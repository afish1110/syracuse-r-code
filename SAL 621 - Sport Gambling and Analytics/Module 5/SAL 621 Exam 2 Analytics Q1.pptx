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69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E773-6B54-4A7E-8970-C883BCBF96DB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F5F4-23A6-476D-BEE8-036E98B35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11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E773-6B54-4A7E-8970-C883BCBF96DB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F5F4-23A6-476D-BEE8-036E98B35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09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E773-6B54-4A7E-8970-C883BCBF96DB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F5F4-23A6-476D-BEE8-036E98B35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238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E773-6B54-4A7E-8970-C883BCBF96DB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F5F4-23A6-476D-BEE8-036E98B35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386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E773-6B54-4A7E-8970-C883BCBF96DB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F5F4-23A6-476D-BEE8-036E98B35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98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E773-6B54-4A7E-8970-C883BCBF96DB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F5F4-23A6-476D-BEE8-036E98B35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556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E773-6B54-4A7E-8970-C883BCBF96DB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F5F4-23A6-476D-BEE8-036E98B35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424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E773-6B54-4A7E-8970-C883BCBF96DB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F5F4-23A6-476D-BEE8-036E98B35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506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E773-6B54-4A7E-8970-C883BCBF96DB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F5F4-23A6-476D-BEE8-036E98B35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273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E773-6B54-4A7E-8970-C883BCBF96DB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F5F4-23A6-476D-BEE8-036E98B35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744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E773-6B54-4A7E-8970-C883BCBF96DB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F5F4-23A6-476D-BEE8-036E98B35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81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E773-6B54-4A7E-8970-C883BCBF96DB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F5F4-23A6-476D-BEE8-036E98B35D8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935089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E773-6B54-4A7E-8970-C883BCBF96DB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F5F4-23A6-476D-BEE8-036E98B35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841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E773-6B54-4A7E-8970-C883BCBF96DB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F5F4-23A6-476D-BEE8-036E98B35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5330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E773-6B54-4A7E-8970-C883BCBF96DB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F5F4-23A6-476D-BEE8-036E98B35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0895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E773-6B54-4A7E-8970-C883BCBF96DB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F5F4-23A6-476D-BEE8-036E98B35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4477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E773-6B54-4A7E-8970-C883BCBF96DB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F5F4-23A6-476D-BEE8-036E98B35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827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1ACE773-6B54-4A7E-8970-C883BCBF96DB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260F5F4-23A6-476D-BEE8-036E98B35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4917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05DDE-B845-C583-F28B-55E95215FF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 2 Analytics Q1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876FB-F9EF-546C-E7CB-F43F4C2A44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Andrew Fish</a:t>
            </a:r>
          </a:p>
        </p:txBody>
      </p:sp>
    </p:spTree>
    <p:extLst>
      <p:ext uri="{BB962C8B-B14F-4D97-AF65-F5344CB8AC3E}">
        <p14:creationId xmlns:p14="http://schemas.microsoft.com/office/powerpoint/2010/main" val="2386199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968A6-5D74-7630-157C-EC229C0B7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442" y="213049"/>
            <a:ext cx="10353762" cy="970450"/>
          </a:xfrm>
        </p:spPr>
        <p:txBody>
          <a:bodyPr/>
          <a:lstStyle/>
          <a:p>
            <a:r>
              <a:rPr lang="en-US" dirty="0"/>
              <a:t>Balanced Book Hypothesis NFL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67311-B005-B87D-6E7E-8D899EF84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3557295"/>
            <a:ext cx="10348440" cy="28691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According to the Balanced Book Hypothesis there should be equal action on all sides of the betting market. In this case there are two sides for each market, Totals (Over/Under) and Spread (Home/Away)</a:t>
            </a:r>
          </a:p>
          <a:p>
            <a:pPr marL="36900" indent="0">
              <a:buNone/>
            </a:pPr>
            <a:endParaRPr lang="en-US" dirty="0"/>
          </a:p>
          <a:p>
            <a:r>
              <a:rPr lang="en-US" dirty="0"/>
              <a:t>Within the table above it is shown that there is an unbalance within each market. Totals are more unbalanced than Spread</a:t>
            </a:r>
          </a:p>
          <a:p>
            <a:pPr marL="36900" indent="0">
              <a:buNone/>
            </a:pPr>
            <a:endParaRPr lang="en-US" dirty="0"/>
          </a:p>
          <a:p>
            <a:r>
              <a:rPr lang="en-US" dirty="0"/>
              <a:t>Using a one sample t-test we were able to reject the null hypothesis that the means of the markets are different than 50%. All were found to reject the null at the 1% level.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0D05BB4-6368-43E9-6899-68A676A3FE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330410"/>
              </p:ext>
            </p:extLst>
          </p:nvPr>
        </p:nvGraphicFramePr>
        <p:xfrm>
          <a:off x="929764" y="1305560"/>
          <a:ext cx="103484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4220">
                  <a:extLst>
                    <a:ext uri="{9D8B030D-6E8A-4147-A177-3AD203B41FA5}">
                      <a16:colId xmlns:a16="http://schemas.microsoft.com/office/drawing/2014/main" val="2355665359"/>
                    </a:ext>
                  </a:extLst>
                </a:gridCol>
                <a:gridCol w="5174220">
                  <a:extLst>
                    <a:ext uri="{9D8B030D-6E8A-4147-A177-3AD203B41FA5}">
                      <a16:colId xmlns:a16="http://schemas.microsoft.com/office/drawing/2014/main" val="3571777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Mean Percent Bets Placed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8743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74.9%***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969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25.1%***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822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Home Spread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44.4%***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53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Visitor Spread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55.4%***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807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6042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51370-5486-A1CA-D8F7-8D13C0634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Leveraging the Unbalanced 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AB7EF-ABB6-303F-3BDD-B85FD6ED6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5182205" cy="4844197"/>
          </a:xfrm>
        </p:spPr>
        <p:txBody>
          <a:bodyPr/>
          <a:lstStyle/>
          <a:p>
            <a:r>
              <a:rPr lang="en-US" dirty="0"/>
              <a:t>Using the imbalance in the market we will investigate the Totals market to test for any possible profitable strategies</a:t>
            </a:r>
          </a:p>
          <a:p>
            <a:pPr marL="36900" indent="0">
              <a:buNone/>
            </a:pPr>
            <a:endParaRPr lang="en-US" dirty="0"/>
          </a:p>
          <a:p>
            <a:r>
              <a:rPr lang="en-US" dirty="0"/>
              <a:t>In doing so we will test both tail ends of the Totals distribution using the Q1 and Q3 as the cutoff for each tail</a:t>
            </a:r>
          </a:p>
          <a:p>
            <a:pPr marL="36900" indent="0">
              <a:buNone/>
            </a:pPr>
            <a:endParaRPr lang="en-US" dirty="0"/>
          </a:p>
          <a:p>
            <a:r>
              <a:rPr lang="en-US" dirty="0"/>
              <a:t>A t-test will be run with the null hypothesis of mean bet hit less than or equal to 52.4% (expected win percentage for profits in 11/10 priced markets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59CC7D-3BBE-7303-687C-90229FB2D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036" y="2017505"/>
            <a:ext cx="5771225" cy="348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477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C1395-EFEB-547F-87D8-5778F8FC4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70450"/>
          </a:xfrm>
        </p:spPr>
        <p:txBody>
          <a:bodyPr/>
          <a:lstStyle/>
          <a:p>
            <a:r>
              <a:rPr lang="en-US" dirty="0"/>
              <a:t>Totals Examination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EC6850-6326-83EB-871E-9264999E36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523" y="2793856"/>
            <a:ext cx="6414885" cy="3919702"/>
          </a:xfr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7C193AF-6270-51C8-4728-45F01CCFA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305548"/>
              </p:ext>
            </p:extLst>
          </p:nvPr>
        </p:nvGraphicFramePr>
        <p:xfrm>
          <a:off x="316522" y="812657"/>
          <a:ext cx="1159412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8531">
                  <a:extLst>
                    <a:ext uri="{9D8B030D-6E8A-4147-A177-3AD203B41FA5}">
                      <a16:colId xmlns:a16="http://schemas.microsoft.com/office/drawing/2014/main" val="1747945054"/>
                    </a:ext>
                  </a:extLst>
                </a:gridCol>
                <a:gridCol w="2898531">
                  <a:extLst>
                    <a:ext uri="{9D8B030D-6E8A-4147-A177-3AD203B41FA5}">
                      <a16:colId xmlns:a16="http://schemas.microsoft.com/office/drawing/2014/main" val="471911606"/>
                    </a:ext>
                  </a:extLst>
                </a:gridCol>
                <a:gridCol w="2898531">
                  <a:extLst>
                    <a:ext uri="{9D8B030D-6E8A-4147-A177-3AD203B41FA5}">
                      <a16:colId xmlns:a16="http://schemas.microsoft.com/office/drawing/2014/main" val="4169882595"/>
                    </a:ext>
                  </a:extLst>
                </a:gridCol>
                <a:gridCol w="2898531">
                  <a:extLst>
                    <a:ext uri="{9D8B030D-6E8A-4147-A177-3AD203B41FA5}">
                      <a16:colId xmlns:a16="http://schemas.microsoft.com/office/drawing/2014/main" val="36431348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 Success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P-value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757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0.5362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048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0.8108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072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0.8393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389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0.5104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84584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F6078E1-BEF1-22AA-361F-17CB519F3171}"/>
              </a:ext>
            </a:extLst>
          </p:cNvPr>
          <p:cNvSpPr txBox="1"/>
          <p:nvPr/>
        </p:nvSpPr>
        <p:spPr>
          <a:xfrm>
            <a:off x="6998677" y="2793856"/>
            <a:ext cx="4876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table above includes the results for the Hypothesis testing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From the results we fail to reject the null hypothesis of no profitability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Further examination into the Over in Q1 and the Under in Q3 could provide a profitable strategy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Examining the histogram to the left shows that there isn’t much of a difference in the rates the Over and Under occur in the NFL during this time</a:t>
            </a:r>
          </a:p>
        </p:txBody>
      </p:sp>
    </p:spTree>
    <p:extLst>
      <p:ext uri="{BB962C8B-B14F-4D97-AF65-F5344CB8AC3E}">
        <p14:creationId xmlns:p14="http://schemas.microsoft.com/office/powerpoint/2010/main" val="1481822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1389</TotalTime>
  <Words>304</Words>
  <Application>Microsoft Office PowerPoint</Application>
  <PresentationFormat>Widescreen</PresentationFormat>
  <Paragraphs>52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Calisto MT</vt:lpstr>
      <vt:lpstr>Wingdings 2</vt:lpstr>
      <vt:lpstr>Slate</vt:lpstr>
      <vt:lpstr>Exam 2 Analytics Q1</vt:lpstr>
      <vt:lpstr>Balanced Book Hypothesis NFL</vt:lpstr>
      <vt:lpstr>Leveraging the Unbalanced Book</vt:lpstr>
      <vt:lpstr>Totals Examination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Fish</dc:creator>
  <cp:lastModifiedBy>Andrew Fish</cp:lastModifiedBy>
  <cp:revision>3</cp:revision>
  <dcterms:created xsi:type="dcterms:W3CDTF">2025-04-09T02:51:43Z</dcterms:created>
  <dcterms:modified xsi:type="dcterms:W3CDTF">2025-04-10T02:00:46Z</dcterms:modified>
</cp:coreProperties>
</file>