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9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F0CD6-533F-488F-AAC6-3CD5DDDC2897}" type="datetimeFigureOut">
              <a:rPr lang="en-US" smtClean="0"/>
              <a:t>4/12/2025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0F5BB-7B0A-4BCD-86E1-3D60B4A7C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729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F0CD6-533F-488F-AAC6-3CD5DDDC2897}" type="datetimeFigureOut">
              <a:rPr lang="en-US" smtClean="0"/>
              <a:t>4/12/2025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0F5BB-7B0A-4BCD-86E1-3D60B4A7C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56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F0CD6-533F-488F-AAC6-3CD5DDDC2897}" type="datetimeFigureOut">
              <a:rPr lang="en-US" smtClean="0"/>
              <a:t>4/12/2025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0F5BB-7B0A-4BCD-86E1-3D60B4A7C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678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F0CD6-533F-488F-AAC6-3CD5DDDC2897}" type="datetimeFigureOut">
              <a:rPr lang="en-US" smtClean="0"/>
              <a:t>4/12/2025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0F5BB-7B0A-4BCD-86E1-3D60B4A7C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019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F0CD6-533F-488F-AAC6-3CD5DDDC2897}" type="datetimeFigureOut">
              <a:rPr lang="en-US" smtClean="0"/>
              <a:t>4/12/2025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0F5BB-7B0A-4BCD-86E1-3D60B4A7C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377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F0CD6-533F-488F-AAC6-3CD5DDDC2897}" type="datetimeFigureOut">
              <a:rPr lang="en-US" smtClean="0"/>
              <a:t>4/12/2025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0F5BB-7B0A-4BCD-86E1-3D60B4A7C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48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F0CD6-533F-488F-AAC6-3CD5DDDC2897}" type="datetimeFigureOut">
              <a:rPr lang="en-US" smtClean="0"/>
              <a:t>4/12/2025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0F5BB-7B0A-4BCD-86E1-3D60B4A7C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794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F0CD6-533F-488F-AAC6-3CD5DDDC2897}" type="datetimeFigureOut">
              <a:rPr lang="en-US" smtClean="0"/>
              <a:t>4/12/2025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0F5BB-7B0A-4BCD-86E1-3D60B4A7C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374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F0CD6-533F-488F-AAC6-3CD5DDDC2897}" type="datetimeFigureOut">
              <a:rPr lang="en-US" smtClean="0"/>
              <a:t>4/12/2025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0F5BB-7B0A-4BCD-86E1-3D60B4A7C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067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F0CD6-533F-488F-AAC6-3CD5DDDC2897}" type="datetimeFigureOut">
              <a:rPr lang="en-US" smtClean="0"/>
              <a:t>4/12/2025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0F5BB-7B0A-4BCD-86E1-3D60B4A7C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490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F0CD6-533F-488F-AAC6-3CD5DDDC2897}" type="datetimeFigureOut">
              <a:rPr lang="en-US" smtClean="0"/>
              <a:t>4/12/2025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0F5BB-7B0A-4BCD-86E1-3D60B4A7C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449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F0CD6-533F-488F-AAC6-3CD5DDDC2897}" type="datetimeFigureOut">
              <a:rPr lang="en-US" smtClean="0"/>
              <a:t>4/12/2025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0F5BB-7B0A-4BCD-86E1-3D60B4A7C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31685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F0CD6-533F-488F-AAC6-3CD5DDDC2897}" type="datetimeFigureOut">
              <a:rPr lang="en-US" smtClean="0"/>
              <a:t>4/12/2025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0F5BB-7B0A-4BCD-86E1-3D60B4A7C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4454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F0CD6-533F-488F-AAC6-3CD5DDDC2897}" type="datetimeFigureOut">
              <a:rPr lang="en-US" smtClean="0"/>
              <a:t>4/12/2025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0F5BB-7B0A-4BCD-86E1-3D60B4A7C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4223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F0CD6-533F-488F-AAC6-3CD5DDDC2897}" type="datetimeFigureOut">
              <a:rPr lang="en-US" smtClean="0"/>
              <a:t>4/12/2025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0F5BB-7B0A-4BCD-86E1-3D60B4A7C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1150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F0CD6-533F-488F-AAC6-3CD5DDDC2897}" type="datetimeFigureOut">
              <a:rPr lang="en-US" smtClean="0"/>
              <a:t>4/12/2025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0F5BB-7B0A-4BCD-86E1-3D60B4A7C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8807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F0CD6-533F-488F-AAC6-3CD5DDDC2897}" type="datetimeFigureOut">
              <a:rPr lang="en-US" smtClean="0"/>
              <a:t>4/12/2025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0F5BB-7B0A-4BCD-86E1-3D60B4A7C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222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FBAF0CD6-533F-488F-AAC6-3CD5DDDC2897}" type="datetimeFigureOut">
              <a:rPr lang="en-US" smtClean="0"/>
              <a:t>4/12/2025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E920F5BB-7B0A-4BCD-86E1-3D60B4A7C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5440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1E3B8-2885-C8AA-C716-5774A1619B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Exam 2 Analytics Q3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5A69C3-3B07-BD90-106B-FB946DE0B7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Andrew Fish</a:t>
            </a:r>
          </a:p>
        </p:txBody>
      </p:sp>
    </p:spTree>
    <p:extLst>
      <p:ext uri="{BB962C8B-B14F-4D97-AF65-F5344CB8AC3E}">
        <p14:creationId xmlns:p14="http://schemas.microsoft.com/office/powerpoint/2010/main" val="21697017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5C518-8519-AA87-32C3-61F5C9514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96350"/>
            <a:ext cx="10353762" cy="970450"/>
          </a:xfrm>
        </p:spPr>
        <p:txBody>
          <a:bodyPr/>
          <a:lstStyle/>
          <a:p>
            <a:pPr algn="l"/>
            <a:r>
              <a:rPr lang="en-US" dirty="0"/>
              <a:t>Modeling Betting Volume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29412-7701-A50E-2639-0725155902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3780148"/>
            <a:ext cx="10353762" cy="290345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Both of the models were checked for multicollinearity and heteroskedasticity. Model1^ is Model1 corrected for multicollinearity and Model2^ is Model2 corrected for heteroskedasticity</a:t>
            </a:r>
          </a:p>
          <a:p>
            <a:endParaRPr lang="en-US" dirty="0"/>
          </a:p>
          <a:p>
            <a:r>
              <a:rPr lang="en-US" dirty="0"/>
              <a:t>Original starting point was attempting to replicated the models of Paul &amp; Weinbach paper with just betting related data. Then added Week of Season in attempt to replicated month dummies.</a:t>
            </a:r>
          </a:p>
          <a:p>
            <a:endParaRPr lang="en-US" dirty="0"/>
          </a:p>
          <a:p>
            <a:r>
              <a:rPr lang="en-US" dirty="0"/>
              <a:t>Thought was to have the betting data combined with the time of season data. Assuming more hype for NFL at beginning of season compared to end</a:t>
            </a:r>
          </a:p>
          <a:p>
            <a:endParaRPr lang="en-US" dirty="0"/>
          </a:p>
          <a:p>
            <a:pPr marL="36900" indent="0">
              <a:buNone/>
            </a:pPr>
            <a:r>
              <a:rPr lang="en-US" sz="1500" dirty="0"/>
              <a:t>Significance levels: . is 10%, * is 5%, ** is 1%, *** is 0.1%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17D0B2A-819F-4427-C4BF-336D45EF9F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2893205"/>
              </p:ext>
            </p:extLst>
          </p:nvPr>
        </p:nvGraphicFramePr>
        <p:xfrm>
          <a:off x="913795" y="1066800"/>
          <a:ext cx="10353765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0753">
                  <a:extLst>
                    <a:ext uri="{9D8B030D-6E8A-4147-A177-3AD203B41FA5}">
                      <a16:colId xmlns:a16="http://schemas.microsoft.com/office/drawing/2014/main" val="671191975"/>
                    </a:ext>
                  </a:extLst>
                </a:gridCol>
                <a:gridCol w="2070753">
                  <a:extLst>
                    <a:ext uri="{9D8B030D-6E8A-4147-A177-3AD203B41FA5}">
                      <a16:colId xmlns:a16="http://schemas.microsoft.com/office/drawing/2014/main" val="2429856096"/>
                    </a:ext>
                  </a:extLst>
                </a:gridCol>
                <a:gridCol w="2070753">
                  <a:extLst>
                    <a:ext uri="{9D8B030D-6E8A-4147-A177-3AD203B41FA5}">
                      <a16:colId xmlns:a16="http://schemas.microsoft.com/office/drawing/2014/main" val="632200336"/>
                    </a:ext>
                  </a:extLst>
                </a:gridCol>
                <a:gridCol w="2070753">
                  <a:extLst>
                    <a:ext uri="{9D8B030D-6E8A-4147-A177-3AD203B41FA5}">
                      <a16:colId xmlns:a16="http://schemas.microsoft.com/office/drawing/2014/main" val="2003885566"/>
                    </a:ext>
                  </a:extLst>
                </a:gridCol>
                <a:gridCol w="2070753">
                  <a:extLst>
                    <a:ext uri="{9D8B030D-6E8A-4147-A177-3AD203B41FA5}">
                      <a16:colId xmlns:a16="http://schemas.microsoft.com/office/drawing/2014/main" val="2695588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Model1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Model1^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Model2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Model2^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550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Intercept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-12135.37*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-118494*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-107985.3*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-107985.27*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140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absSpread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-2115.11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-3172*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-2141.2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-2141.17.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0255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absSpread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-74.76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7550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6605.27***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6606***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6770.1***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6770.11***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7569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RoadFav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-7971.59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-7967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-4678.6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-4678.62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2917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Week of Season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-2542.9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-2542.93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89313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0979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2B22E-1D4D-51BB-221E-C830FE769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70237"/>
            <a:ext cx="10353762" cy="970450"/>
          </a:xfrm>
        </p:spPr>
        <p:txBody>
          <a:bodyPr/>
          <a:lstStyle/>
          <a:p>
            <a:pPr algn="l"/>
            <a:r>
              <a:rPr lang="en-US" dirty="0"/>
              <a:t>Testing the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FBFA2-E947-54C6-BD56-D934FEA3E1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4986107"/>
            <a:ext cx="10353762" cy="148315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From the BP and White tests it is seen that in Model2 we can reject the null hypothesis of no heteroskedasticity and must correct for that. As well Model2^ is significantly different from Model1^ with the addition of Week of Season</a:t>
            </a:r>
          </a:p>
          <a:p>
            <a:r>
              <a:rPr lang="en-US" dirty="0"/>
              <a:t>The VIF results show an issue with </a:t>
            </a:r>
            <a:r>
              <a:rPr lang="en-US" dirty="0" err="1"/>
              <a:t>absSpread</a:t>
            </a:r>
            <a:r>
              <a:rPr lang="en-US" dirty="0"/>
              <a:t> and absSpread^2. The removal of absSpread^2 helps eliminate this issue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30B0CE6-CF2E-CD78-A4D3-8D98C520A1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6825095"/>
              </p:ext>
            </p:extLst>
          </p:nvPr>
        </p:nvGraphicFramePr>
        <p:xfrm>
          <a:off x="913795" y="1140687"/>
          <a:ext cx="1035376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8441">
                  <a:extLst>
                    <a:ext uri="{9D8B030D-6E8A-4147-A177-3AD203B41FA5}">
                      <a16:colId xmlns:a16="http://schemas.microsoft.com/office/drawing/2014/main" val="1142416170"/>
                    </a:ext>
                  </a:extLst>
                </a:gridCol>
                <a:gridCol w="2588441">
                  <a:extLst>
                    <a:ext uri="{9D8B030D-6E8A-4147-A177-3AD203B41FA5}">
                      <a16:colId xmlns:a16="http://schemas.microsoft.com/office/drawing/2014/main" val="2681713835"/>
                    </a:ext>
                  </a:extLst>
                </a:gridCol>
                <a:gridCol w="2588441">
                  <a:extLst>
                    <a:ext uri="{9D8B030D-6E8A-4147-A177-3AD203B41FA5}">
                      <a16:colId xmlns:a16="http://schemas.microsoft.com/office/drawing/2014/main" val="4105896845"/>
                    </a:ext>
                  </a:extLst>
                </a:gridCol>
                <a:gridCol w="2588441">
                  <a:extLst>
                    <a:ext uri="{9D8B030D-6E8A-4147-A177-3AD203B41FA5}">
                      <a16:colId xmlns:a16="http://schemas.microsoft.com/office/drawing/2014/main" val="34200523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BP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White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ANOVA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25282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Model1^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6.9502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2.5358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144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Model2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12.624*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7.7462*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1151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Model2^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10.144**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240647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006C51D-8BE3-7906-D44F-67280E55E8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4203017"/>
              </p:ext>
            </p:extLst>
          </p:nvPr>
        </p:nvGraphicFramePr>
        <p:xfrm>
          <a:off x="913795" y="2692557"/>
          <a:ext cx="10353764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8441">
                  <a:extLst>
                    <a:ext uri="{9D8B030D-6E8A-4147-A177-3AD203B41FA5}">
                      <a16:colId xmlns:a16="http://schemas.microsoft.com/office/drawing/2014/main" val="3617338901"/>
                    </a:ext>
                  </a:extLst>
                </a:gridCol>
                <a:gridCol w="2588441">
                  <a:extLst>
                    <a:ext uri="{9D8B030D-6E8A-4147-A177-3AD203B41FA5}">
                      <a16:colId xmlns:a16="http://schemas.microsoft.com/office/drawing/2014/main" val="2123366740"/>
                    </a:ext>
                  </a:extLst>
                </a:gridCol>
                <a:gridCol w="2588441">
                  <a:extLst>
                    <a:ext uri="{9D8B030D-6E8A-4147-A177-3AD203B41FA5}">
                      <a16:colId xmlns:a16="http://schemas.microsoft.com/office/drawing/2014/main" val="2458779144"/>
                    </a:ext>
                  </a:extLst>
                </a:gridCol>
                <a:gridCol w="2588441">
                  <a:extLst>
                    <a:ext uri="{9D8B030D-6E8A-4147-A177-3AD203B41FA5}">
                      <a16:colId xmlns:a16="http://schemas.microsoft.com/office/drawing/2014/main" val="13029356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Model1 VIF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Model1^ VIF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Model2 VIF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32264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absSpread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3488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absSpread^2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46044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56101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RoadFav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257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Week of Season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8688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1388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8BB8B-F012-56C0-BA5B-14B1D4592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53762"/>
            <a:ext cx="10353762" cy="970450"/>
          </a:xfrm>
        </p:spPr>
        <p:txBody>
          <a:bodyPr/>
          <a:lstStyle/>
          <a:p>
            <a:r>
              <a:rPr lang="en-US" dirty="0"/>
              <a:t>Relationship Between Volume and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650C2-E8A0-CDAD-6AC3-5FA5CDC182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735" y="1135717"/>
            <a:ext cx="4497191" cy="525221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Total shows bettors preferring higher scoring games</a:t>
            </a:r>
          </a:p>
          <a:p>
            <a:r>
              <a:rPr lang="en-US" dirty="0"/>
              <a:t>The Spread shows higher volume of bets are placed on games that have a smaller absolute value of spread. Resulting in predicting a closer game</a:t>
            </a:r>
          </a:p>
          <a:p>
            <a:r>
              <a:rPr lang="en-US" dirty="0"/>
              <a:t>As the season goes on the bettors tend to bet less often with some spikes later in the season</a:t>
            </a:r>
          </a:p>
          <a:p>
            <a:r>
              <a:rPr lang="en-US" dirty="0"/>
              <a:t>There is a slight preference to betting against Road Favorites meaning the bettors prefer the Home Team to win over the Road Team</a:t>
            </a:r>
          </a:p>
          <a:p>
            <a:r>
              <a:rPr lang="en-US" dirty="0"/>
              <a:t>These trends confirm what the coefficients are communicating in Model1^ and Model2^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A5AAD3-3605-6397-6D86-C58550B9BE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6718" y="1135717"/>
            <a:ext cx="6752846" cy="5252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1517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50</TotalTime>
  <Words>396</Words>
  <Application>Microsoft Office PowerPoint</Application>
  <PresentationFormat>Widescreen</PresentationFormat>
  <Paragraphs>94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Calisto MT</vt:lpstr>
      <vt:lpstr>Wingdings 2</vt:lpstr>
      <vt:lpstr>Slate</vt:lpstr>
      <vt:lpstr>Exam 2 Analytics Q3</vt:lpstr>
      <vt:lpstr>Modeling Betting Volume</vt:lpstr>
      <vt:lpstr>Testing the Models</vt:lpstr>
      <vt:lpstr>Relationship Between Volume and Variables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Fish</dc:creator>
  <cp:lastModifiedBy>Andrew Fish</cp:lastModifiedBy>
  <cp:revision>1</cp:revision>
  <dcterms:created xsi:type="dcterms:W3CDTF">2025-04-12T18:23:59Z</dcterms:created>
  <dcterms:modified xsi:type="dcterms:W3CDTF">2025-04-12T19:14:30Z</dcterms:modified>
</cp:coreProperties>
</file>