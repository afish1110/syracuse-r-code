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4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E6F4E-CEC8-4F57-81F0-AF25147AE466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C7269-7D99-43EB-A040-BAF46988E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274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E6F4E-CEC8-4F57-81F0-AF25147AE466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C7269-7D99-43EB-A040-BAF46988E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417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E6F4E-CEC8-4F57-81F0-AF25147AE466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C7269-7D99-43EB-A040-BAF46988E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81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E6F4E-CEC8-4F57-81F0-AF25147AE466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C7269-7D99-43EB-A040-BAF46988E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979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E6F4E-CEC8-4F57-81F0-AF25147AE466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C7269-7D99-43EB-A040-BAF46988E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734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E6F4E-CEC8-4F57-81F0-AF25147AE466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C7269-7D99-43EB-A040-BAF46988E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376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E6F4E-CEC8-4F57-81F0-AF25147AE466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C7269-7D99-43EB-A040-BAF46988E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009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E6F4E-CEC8-4F57-81F0-AF25147AE466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C7269-7D99-43EB-A040-BAF46988E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556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E6F4E-CEC8-4F57-81F0-AF25147AE466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C7269-7D99-43EB-A040-BAF46988E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613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E6F4E-CEC8-4F57-81F0-AF25147AE466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C7269-7D99-43EB-A040-BAF46988E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004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E6F4E-CEC8-4F57-81F0-AF25147AE466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C7269-7D99-43EB-A040-BAF46988E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535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2E6F4E-CEC8-4F57-81F0-AF25147AE466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2C7269-7D99-43EB-A040-BAF46988E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6623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9CAB4-373E-7187-7283-82E66D6BCA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Exam 2 Analytics Q2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75911A-2B1F-185A-E034-804B16D712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Andrew Fish</a:t>
            </a:r>
          </a:p>
        </p:txBody>
      </p:sp>
    </p:spTree>
    <p:extLst>
      <p:ext uri="{BB962C8B-B14F-4D97-AF65-F5344CB8AC3E}">
        <p14:creationId xmlns:p14="http://schemas.microsoft.com/office/powerpoint/2010/main" val="2497115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36CF-CBF2-971F-152A-07DDB2495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486" y="101062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Favorites &amp; Underdogs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A9F5526-194C-714A-5C04-4AD86AF289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8853350"/>
              </p:ext>
            </p:extLst>
          </p:nvPr>
        </p:nvGraphicFramePr>
        <p:xfrm>
          <a:off x="452486" y="1426625"/>
          <a:ext cx="6027660" cy="11125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506915">
                  <a:extLst>
                    <a:ext uri="{9D8B030D-6E8A-4147-A177-3AD203B41FA5}">
                      <a16:colId xmlns:a16="http://schemas.microsoft.com/office/drawing/2014/main" val="1666886065"/>
                    </a:ext>
                  </a:extLst>
                </a:gridCol>
                <a:gridCol w="1506915">
                  <a:extLst>
                    <a:ext uri="{9D8B030D-6E8A-4147-A177-3AD203B41FA5}">
                      <a16:colId xmlns:a16="http://schemas.microsoft.com/office/drawing/2014/main" val="2939382728"/>
                    </a:ext>
                  </a:extLst>
                </a:gridCol>
                <a:gridCol w="1506915">
                  <a:extLst>
                    <a:ext uri="{9D8B030D-6E8A-4147-A177-3AD203B41FA5}">
                      <a16:colId xmlns:a16="http://schemas.microsoft.com/office/drawing/2014/main" val="2345748223"/>
                    </a:ext>
                  </a:extLst>
                </a:gridCol>
                <a:gridCol w="1506915">
                  <a:extLst>
                    <a:ext uri="{9D8B030D-6E8A-4147-A177-3AD203B41FA5}">
                      <a16:colId xmlns:a16="http://schemas.microsoft.com/office/drawing/2014/main" val="15257359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Profit%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2213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Favorites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2530.4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77.4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3.16%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0996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Underdogs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2481.73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28.73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1.17%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2445209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A97EDBC5-93AC-6DC8-B30C-01301F570E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0253" y="365126"/>
            <a:ext cx="4703547" cy="572903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71421B-26BB-B3C8-8F57-F557FE5DC55C}"/>
              </a:ext>
            </a:extLst>
          </p:cNvPr>
          <p:cNvSpPr txBox="1"/>
          <p:nvPr/>
        </p:nvSpPr>
        <p:spPr>
          <a:xfrm>
            <a:off x="452486" y="3054285"/>
            <a:ext cx="602766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From the tables and the graphs, it can be seen that the strategy of only betting </a:t>
            </a:r>
            <a:r>
              <a:rPr lang="en-US" b="1" dirty="0"/>
              <a:t>Favorites</a:t>
            </a:r>
            <a:r>
              <a:rPr lang="en-US" dirty="0"/>
              <a:t> is </a:t>
            </a:r>
            <a:r>
              <a:rPr lang="en-US" b="1" dirty="0"/>
              <a:t>more profitable</a:t>
            </a:r>
            <a:r>
              <a:rPr lang="en-US" dirty="0"/>
              <a:t> than only betting </a:t>
            </a:r>
            <a:r>
              <a:rPr lang="en-US" b="1" dirty="0"/>
              <a:t>Underdogs</a:t>
            </a:r>
            <a:r>
              <a:rPr lang="en-US" dirty="0"/>
              <a:t> in MLS from 2017-2022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Surprising as </a:t>
            </a:r>
            <a:r>
              <a:rPr lang="en-US" b="1" dirty="0"/>
              <a:t>Underdogs</a:t>
            </a:r>
            <a:r>
              <a:rPr lang="en-US" dirty="0"/>
              <a:t> normally give larger payouts compared to </a:t>
            </a:r>
            <a:r>
              <a:rPr lang="en-US" b="1" dirty="0"/>
              <a:t>Favorites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Favorites</a:t>
            </a:r>
            <a:r>
              <a:rPr lang="en-US" dirty="0"/>
              <a:t> more sustainable bet as spending more time in the green (earning a profit) compared to the </a:t>
            </a:r>
            <a:r>
              <a:rPr lang="en-US" b="1" dirty="0"/>
              <a:t>Underdogs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855170-6205-9AE3-E695-970D74A0586A}"/>
              </a:ext>
            </a:extLst>
          </p:cNvPr>
          <p:cNvSpPr txBox="1"/>
          <p:nvPr/>
        </p:nvSpPr>
        <p:spPr>
          <a:xfrm>
            <a:off x="678730" y="6094156"/>
            <a:ext cx="54172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*Returns and Profits calculated using a $1 bet for every game</a:t>
            </a:r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559052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6BB1D-2342-D9F7-4C5B-D5FF7D127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Home, Away &amp; Draw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CA155-FF8D-8001-78EF-9EFA9B050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90532"/>
            <a:ext cx="10515600" cy="2550011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Home teams won at an alarming rate in MLS from 2017-2022</a:t>
            </a:r>
          </a:p>
          <a:p>
            <a:endParaRPr lang="en-US" sz="2400" dirty="0"/>
          </a:p>
          <a:p>
            <a:r>
              <a:rPr lang="en-US" sz="2400" dirty="0"/>
              <a:t>This could possibly be leveraged to be a sustainable profit earning wager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After examining the rates of Home, Away, and Draw, further investigation was performed on the returns and profits of betting on the Home team. Specifically, </a:t>
            </a:r>
            <a:r>
              <a:rPr lang="en-US" sz="2400" b="1" dirty="0"/>
              <a:t>Home</a:t>
            </a:r>
            <a:r>
              <a:rPr lang="en-US" sz="2400" dirty="0"/>
              <a:t> and </a:t>
            </a:r>
            <a:r>
              <a:rPr lang="en-US" sz="2400" b="1" dirty="0"/>
              <a:t>Home Underdogs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AAC3991-5377-65A5-FA48-5793CCE610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2895194"/>
              </p:ext>
            </p:extLst>
          </p:nvPr>
        </p:nvGraphicFramePr>
        <p:xfrm>
          <a:off x="1947159" y="1948930"/>
          <a:ext cx="8128000" cy="1483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98770120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6183092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Hit 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422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51.3%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3908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25.71%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4882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Draw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22.99%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942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110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58D55-2030-4912-BBD6-239621782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Home &amp; Home Underdogs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CB68EA7-32CD-AB3A-CACA-6314CF8DEF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910718"/>
              </p:ext>
            </p:extLst>
          </p:nvPr>
        </p:nvGraphicFramePr>
        <p:xfrm>
          <a:off x="948965" y="1690688"/>
          <a:ext cx="5417272" cy="13817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354318">
                  <a:extLst>
                    <a:ext uri="{9D8B030D-6E8A-4147-A177-3AD203B41FA5}">
                      <a16:colId xmlns:a16="http://schemas.microsoft.com/office/drawing/2014/main" val="1886331329"/>
                    </a:ext>
                  </a:extLst>
                </a:gridCol>
                <a:gridCol w="1354318">
                  <a:extLst>
                    <a:ext uri="{9D8B030D-6E8A-4147-A177-3AD203B41FA5}">
                      <a16:colId xmlns:a16="http://schemas.microsoft.com/office/drawing/2014/main" val="4176491084"/>
                    </a:ext>
                  </a:extLst>
                </a:gridCol>
                <a:gridCol w="1354318">
                  <a:extLst>
                    <a:ext uri="{9D8B030D-6E8A-4147-A177-3AD203B41FA5}">
                      <a16:colId xmlns:a16="http://schemas.microsoft.com/office/drawing/2014/main" val="562057206"/>
                    </a:ext>
                  </a:extLst>
                </a:gridCol>
                <a:gridCol w="1354318">
                  <a:extLst>
                    <a:ext uri="{9D8B030D-6E8A-4147-A177-3AD203B41FA5}">
                      <a16:colId xmlns:a16="http://schemas.microsoft.com/office/drawing/2014/main" val="1495419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Profit%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5811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2596.02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138.02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5.62%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931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Home Underdogs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393.9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58.9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17.58%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4249923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D1AA6EBF-E19F-47EC-A6FC-9B92950A8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0738" y="365125"/>
            <a:ext cx="4623062" cy="58296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C0F50B-F26E-B1A5-0EB5-6CA97F8A3AC2}"/>
              </a:ext>
            </a:extLst>
          </p:cNvPr>
          <p:cNvSpPr txBox="1"/>
          <p:nvPr/>
        </p:nvSpPr>
        <p:spPr>
          <a:xfrm>
            <a:off x="948965" y="3332471"/>
            <a:ext cx="5257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Placing bets on Home or Home Underdogs is a more profitable strategy than betting Favorites or Underdogs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most profitable strategy is leveraging the home-field-advantage in MLS and wagering on Home Underdogs, with 17.58% profit rates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Over the course of multiple seasons this strategy can be very lucrative using a larger bet size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5FC732-7034-7FBC-A68F-491A725A9092}"/>
              </a:ext>
            </a:extLst>
          </p:cNvPr>
          <p:cNvSpPr txBox="1"/>
          <p:nvPr/>
        </p:nvSpPr>
        <p:spPr>
          <a:xfrm>
            <a:off x="1225485" y="6239372"/>
            <a:ext cx="54172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*Returns and Profits calculated using a $1 bet for every game</a:t>
            </a:r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8742765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</TotalTime>
  <Words>258</Words>
  <Application>Microsoft Office PowerPoint</Application>
  <PresentationFormat>Widescreen</PresentationFormat>
  <Paragraphs>54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Exam 2 Analytics Q2</vt:lpstr>
      <vt:lpstr>Favorites &amp; Underdogs</vt:lpstr>
      <vt:lpstr>Home, Away &amp; Draw</vt:lpstr>
      <vt:lpstr>Home &amp; Home Underdogs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Fish</dc:creator>
  <cp:lastModifiedBy>Andrew Fish</cp:lastModifiedBy>
  <cp:revision>1</cp:revision>
  <dcterms:created xsi:type="dcterms:W3CDTF">2025-04-09T03:26:15Z</dcterms:created>
  <dcterms:modified xsi:type="dcterms:W3CDTF">2025-04-09T03:27:52Z</dcterms:modified>
</cp:coreProperties>
</file>