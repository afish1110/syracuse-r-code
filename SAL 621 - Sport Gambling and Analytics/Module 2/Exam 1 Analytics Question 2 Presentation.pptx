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82298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0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0432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4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8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1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3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9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8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9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6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720192D-EEB3-411C-8761-6537294B3155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0BFC67A-61CF-4C0F-9424-A879C1237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2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FE55-4B81-9FDB-0B76-36B35A654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Totals and Spreads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C6588-3F5B-865E-14F1-8891A1F1D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Fish</a:t>
            </a:r>
          </a:p>
        </p:txBody>
      </p:sp>
    </p:spTree>
    <p:extLst>
      <p:ext uri="{BB962C8B-B14F-4D97-AF65-F5344CB8AC3E}">
        <p14:creationId xmlns:p14="http://schemas.microsoft.com/office/powerpoint/2010/main" val="352209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4A25-99EE-DE27-D136-C21A3740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-86726"/>
            <a:ext cx="9692640" cy="1325562"/>
          </a:xfrm>
        </p:spPr>
        <p:txBody>
          <a:bodyPr/>
          <a:lstStyle/>
          <a:p>
            <a:r>
              <a:rPr lang="en-US" dirty="0"/>
              <a:t>Assumptions of Totals &amp; Spreads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D1404-AB30-483B-F24E-CD5FBE52A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527" y="1399136"/>
            <a:ext cx="3460957" cy="21363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3D9E0-54D1-22EE-E313-34DBC6C5E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38836"/>
            <a:ext cx="3556804" cy="2195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05D966-BF6B-75E5-0298-5A4F1706C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40" y="3695829"/>
            <a:ext cx="3992631" cy="24645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1DCE81-7C4D-4F68-04B8-D07BBBC136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831" y="3636664"/>
            <a:ext cx="4268360" cy="26347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9A0F5E-E113-0107-1457-E17AE1A8B773}"/>
              </a:ext>
            </a:extLst>
          </p:cNvPr>
          <p:cNvSpPr txBox="1"/>
          <p:nvPr/>
        </p:nvSpPr>
        <p:spPr>
          <a:xfrm>
            <a:off x="1376631" y="6271454"/>
            <a:ext cx="8194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Histograms to show normal distribution of Total and Spread</a:t>
            </a:r>
          </a:p>
          <a:p>
            <a:r>
              <a:rPr lang="en-US" sz="1200" dirty="0"/>
              <a:t>Scatter plots to show linear relationship between actual and the Vegas Line</a:t>
            </a:r>
          </a:p>
        </p:txBody>
      </p:sp>
    </p:spTree>
    <p:extLst>
      <p:ext uri="{BB962C8B-B14F-4D97-AF65-F5344CB8AC3E}">
        <p14:creationId xmlns:p14="http://schemas.microsoft.com/office/powerpoint/2010/main" val="1458234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0CD7-B087-CCAF-2CD1-7D160355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Totals – When to Bet the Under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36515A-6D51-3A41-62B3-7C589A454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602589"/>
              </p:ext>
            </p:extLst>
          </p:nvPr>
        </p:nvGraphicFramePr>
        <p:xfrm>
          <a:off x="1390978" y="3346516"/>
          <a:ext cx="85947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908">
                  <a:extLst>
                    <a:ext uri="{9D8B030D-6E8A-4147-A177-3AD203B41FA5}">
                      <a16:colId xmlns:a16="http://schemas.microsoft.com/office/drawing/2014/main" val="1932472331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3674363548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3087015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225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Entire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9743:10061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64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Min-Q1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2480:2672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3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Q3-Max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2672:2651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08965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E2AAA7-7B83-0B68-0231-4DE9A58F4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37232"/>
              </p:ext>
            </p:extLst>
          </p:nvPr>
        </p:nvGraphicFramePr>
        <p:xfrm>
          <a:off x="1389657" y="2001711"/>
          <a:ext cx="859472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>
                  <a:extLst>
                    <a:ext uri="{9D8B030D-6E8A-4147-A177-3AD203B41FA5}">
                      <a16:colId xmlns:a16="http://schemas.microsoft.com/office/drawing/2014/main" val="779857661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804833727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366376595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2949006368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726042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34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9509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11A598-F5D0-9873-70BF-BF326222E262}"/>
              </a:ext>
            </a:extLst>
          </p:cNvPr>
          <p:cNvSpPr txBox="1"/>
          <p:nvPr/>
        </p:nvSpPr>
        <p:spPr>
          <a:xfrm>
            <a:off x="177789" y="2187885"/>
            <a:ext cx="121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9FD55-344F-624D-89FF-C8FE8CFBB769}"/>
              </a:ext>
            </a:extLst>
          </p:cNvPr>
          <p:cNvSpPr txBox="1"/>
          <p:nvPr/>
        </p:nvSpPr>
        <p:spPr>
          <a:xfrm>
            <a:off x="179109" y="3903530"/>
            <a:ext cx="121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15C5A-CA07-4DDD-346E-AE368771E4B2}"/>
              </a:ext>
            </a:extLst>
          </p:cNvPr>
          <p:cNvSpPr txBox="1"/>
          <p:nvPr/>
        </p:nvSpPr>
        <p:spPr>
          <a:xfrm>
            <a:off x="1389657" y="5118755"/>
            <a:ext cx="85947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Used the quartiles to determine the tails of the distribution and calculated the success rates of the under in each tail. From these calculations the </a:t>
            </a:r>
            <a:r>
              <a:rPr lang="en-US" sz="1400" b="1" dirty="0"/>
              <a:t>Under</a:t>
            </a:r>
            <a:r>
              <a:rPr lang="en-US" sz="1400" dirty="0"/>
              <a:t> is better to bet when the </a:t>
            </a:r>
            <a:r>
              <a:rPr lang="en-US" sz="1400" b="1" dirty="0"/>
              <a:t>Total is higher</a:t>
            </a:r>
            <a:r>
              <a:rPr lang="en-US" sz="1400" dirty="0"/>
              <a:t>. At a certain point there is not enough data in the tail so that is why tail started with the quartiles.</a:t>
            </a:r>
          </a:p>
        </p:txBody>
      </p:sp>
    </p:spTree>
    <p:extLst>
      <p:ext uri="{BB962C8B-B14F-4D97-AF65-F5344CB8AC3E}">
        <p14:creationId xmlns:p14="http://schemas.microsoft.com/office/powerpoint/2010/main" val="2466522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7679-4D67-BB8A-75B5-3479804D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Spreads – When Underdog Covers</a:t>
            </a:r>
            <a:br>
              <a:rPr lang="en-US" dirty="0"/>
            </a:br>
            <a:r>
              <a:rPr lang="en-US" sz="1200" dirty="0"/>
              <a:t>*Using Absolute Value of Spread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A0CD98-01B6-A9EB-AE50-AAE0E6438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689131"/>
              </p:ext>
            </p:extLst>
          </p:nvPr>
        </p:nvGraphicFramePr>
        <p:xfrm>
          <a:off x="1262061" y="2111604"/>
          <a:ext cx="859472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>
                  <a:extLst>
                    <a:ext uri="{9D8B030D-6E8A-4147-A177-3AD203B41FA5}">
                      <a16:colId xmlns:a16="http://schemas.microsoft.com/office/drawing/2014/main" val="2096004179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4267966868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2824963295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332431015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183476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541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273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FFA1D-9450-59AE-D487-CFC4264AA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214663"/>
              </p:ext>
            </p:extLst>
          </p:nvPr>
        </p:nvGraphicFramePr>
        <p:xfrm>
          <a:off x="1261873" y="3429000"/>
          <a:ext cx="8594724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908">
                  <a:extLst>
                    <a:ext uri="{9D8B030D-6E8A-4147-A177-3AD203B41FA5}">
                      <a16:colId xmlns:a16="http://schemas.microsoft.com/office/drawing/2014/main" val="3058084900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3202754193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2132646700"/>
                    </a:ext>
                  </a:extLst>
                </a:gridCol>
              </a:tblGrid>
              <a:tr h="355215">
                <a:tc>
                  <a:txBody>
                    <a:bodyPr/>
                    <a:lstStyle/>
                    <a:p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994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Entire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2776:17219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268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Min-Q1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1198:4769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742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Q3-Max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330:4935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407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5DD0EF-8EB3-A2A4-F8D8-F56452664671}"/>
              </a:ext>
            </a:extLst>
          </p:cNvPr>
          <p:cNvSpPr txBox="1"/>
          <p:nvPr/>
        </p:nvSpPr>
        <p:spPr>
          <a:xfrm>
            <a:off x="1261872" y="5175315"/>
            <a:ext cx="8594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these results it isn’t advantageous to bet the </a:t>
            </a:r>
            <a:r>
              <a:rPr lang="en-US" sz="1400" b="1" dirty="0"/>
              <a:t>Underdog</a:t>
            </a:r>
            <a:r>
              <a:rPr lang="en-US" dirty="0"/>
              <a:t> to cover ever. If still insisting on betting this way it is best to do it when the </a:t>
            </a:r>
            <a:r>
              <a:rPr lang="en-US" b="1" dirty="0"/>
              <a:t>Spread is lower</a:t>
            </a:r>
            <a:r>
              <a:rPr lang="en-US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AC183-7E3C-9DBD-7703-94FA3A2CB6ED}"/>
              </a:ext>
            </a:extLst>
          </p:cNvPr>
          <p:cNvSpPr txBox="1"/>
          <p:nvPr/>
        </p:nvSpPr>
        <p:spPr>
          <a:xfrm>
            <a:off x="65988" y="2297778"/>
            <a:ext cx="10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F469E-1965-E705-8173-A5A415972E77}"/>
              </a:ext>
            </a:extLst>
          </p:cNvPr>
          <p:cNvSpPr txBox="1"/>
          <p:nvPr/>
        </p:nvSpPr>
        <p:spPr>
          <a:xfrm>
            <a:off x="65988" y="3983474"/>
            <a:ext cx="10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2</a:t>
            </a:r>
          </a:p>
        </p:txBody>
      </p:sp>
    </p:spTree>
    <p:extLst>
      <p:ext uri="{BB962C8B-B14F-4D97-AF65-F5344CB8AC3E}">
        <p14:creationId xmlns:p14="http://schemas.microsoft.com/office/powerpoint/2010/main" val="256849796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252</TotalTime>
  <Words>208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Schoolbook</vt:lpstr>
      <vt:lpstr>Wingdings 2</vt:lpstr>
      <vt:lpstr>View</vt:lpstr>
      <vt:lpstr>Totals and Spreads Analysis</vt:lpstr>
      <vt:lpstr>Assumptions of Totals &amp; Spreads</vt:lpstr>
      <vt:lpstr>Totals – When to Bet the Under</vt:lpstr>
      <vt:lpstr>Spreads – When Underdog Covers *Using Absolute Value of Spread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Fish</dc:creator>
  <cp:lastModifiedBy>Andrew Fish</cp:lastModifiedBy>
  <cp:revision>2</cp:revision>
  <dcterms:created xsi:type="dcterms:W3CDTF">2025-03-23T18:05:30Z</dcterms:created>
  <dcterms:modified xsi:type="dcterms:W3CDTF">2025-03-23T22:17:44Z</dcterms:modified>
</cp:coreProperties>
</file>