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5" r:id="rId8"/>
    <p:sldId id="264" r:id="rId9"/>
    <p:sldId id="266" r:id="rId10"/>
    <p:sldId id="261" r:id="rId11"/>
    <p:sldId id="262" r:id="rId12"/>
    <p:sldId id="269" r:id="rId13"/>
    <p:sldId id="267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BA6C09-A5FA-E51B-919A-51F44B090F46}" v="154" dt="2025-12-06T22:43:27.515"/>
    <p1510:client id="{41F80469-CF45-F0FA-59D8-516CBB9AE83C}" v="471" dt="2025-12-05T17:36:03.494"/>
    <p1510:client id="{651CF9E1-2739-1D83-C489-A7C772E952A6}" v="957" dt="2025-12-05T21:49:34.891"/>
    <p1510:client id="{8908AE5E-0CAB-6967-8F26-ABCF863D2518}" v="22" dt="2025-12-06T22:35:45.777"/>
    <p1510:client id="{A18A5CC6-00D6-D2A2-F4FB-B0BD3D7637EE}" v="103" dt="2025-12-05T15:36:31.180"/>
    <p1510:client id="{C89C154A-BA76-3123-7FEF-CD0C749CA26C}" v="528" dt="2025-12-05T02:17:59.159"/>
    <p1510:client id="{D8AC568F-345B-397C-2B25-D1AE85177766}" v="148" dt="2025-12-05T21:33:41.472"/>
    <p1510:client id="{EAEE3175-0D4C-46BC-09BC-1331C2B734CF}" v="23" dt="2025-12-05T20:47:04.9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BF2FB1-1D87-482D-8D61-6F4BDAB5BEA8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13E7390-7E0C-408B-B2AC-F7F6A269DF17}">
      <dgm:prSet/>
      <dgm:spPr/>
      <dgm:t>
        <a:bodyPr/>
        <a:lstStyle/>
        <a:p>
          <a:r>
            <a:rPr lang="en-US"/>
            <a:t>Three models</a:t>
          </a:r>
        </a:p>
      </dgm:t>
    </dgm:pt>
    <dgm:pt modelId="{8136F43F-CF49-4B65-B43A-856362BE84BD}" type="parTrans" cxnId="{371081FB-7553-4A72-942E-CA994CA31BDE}">
      <dgm:prSet/>
      <dgm:spPr/>
      <dgm:t>
        <a:bodyPr/>
        <a:lstStyle/>
        <a:p>
          <a:endParaRPr lang="en-US"/>
        </a:p>
      </dgm:t>
    </dgm:pt>
    <dgm:pt modelId="{D70956D5-DD4C-4630-B76B-536959CB365B}" type="sibTrans" cxnId="{371081FB-7553-4A72-942E-CA994CA31BDE}">
      <dgm:prSet/>
      <dgm:spPr/>
      <dgm:t>
        <a:bodyPr/>
        <a:lstStyle/>
        <a:p>
          <a:endParaRPr lang="en-US"/>
        </a:p>
      </dgm:t>
    </dgm:pt>
    <dgm:pt modelId="{60690107-F56D-4AD6-A4BB-017F0C5DA9A5}">
      <dgm:prSet/>
      <dgm:spPr/>
      <dgm:t>
        <a:bodyPr/>
        <a:lstStyle/>
        <a:p>
          <a:r>
            <a:rPr lang="en-US"/>
            <a:t>Logit, Probit, and XGBoost</a:t>
          </a:r>
        </a:p>
      </dgm:t>
    </dgm:pt>
    <dgm:pt modelId="{DBF80307-415F-494D-8C95-F766540B3E69}" type="parTrans" cxnId="{39ADD8E1-57F4-4730-AC8E-E9ECB84F689F}">
      <dgm:prSet/>
      <dgm:spPr/>
      <dgm:t>
        <a:bodyPr/>
        <a:lstStyle/>
        <a:p>
          <a:endParaRPr lang="en-US"/>
        </a:p>
      </dgm:t>
    </dgm:pt>
    <dgm:pt modelId="{D767B553-7184-4D5C-8D7C-D96E57313484}" type="sibTrans" cxnId="{39ADD8E1-57F4-4730-AC8E-E9ECB84F689F}">
      <dgm:prSet/>
      <dgm:spPr/>
      <dgm:t>
        <a:bodyPr/>
        <a:lstStyle/>
        <a:p>
          <a:endParaRPr lang="en-US"/>
        </a:p>
      </dgm:t>
    </dgm:pt>
    <dgm:pt modelId="{40E1D17B-615C-425A-9A0D-8AA887C5924D}">
      <dgm:prSet/>
      <dgm:spPr/>
      <dgm:t>
        <a:bodyPr/>
        <a:lstStyle/>
        <a:p>
          <a:r>
            <a:rPr lang="en-US"/>
            <a:t>Predictors</a:t>
          </a:r>
        </a:p>
      </dgm:t>
    </dgm:pt>
    <dgm:pt modelId="{73E9B357-742F-4C7E-AE22-1D84D2F74316}" type="parTrans" cxnId="{D954B5E0-F6E7-4E6C-961E-3352FBCDD2AD}">
      <dgm:prSet/>
      <dgm:spPr/>
      <dgm:t>
        <a:bodyPr/>
        <a:lstStyle/>
        <a:p>
          <a:endParaRPr lang="en-US"/>
        </a:p>
      </dgm:t>
    </dgm:pt>
    <dgm:pt modelId="{556AC535-2E99-4E55-BFC6-C09FAE64A781}" type="sibTrans" cxnId="{D954B5E0-F6E7-4E6C-961E-3352FBCDD2AD}">
      <dgm:prSet/>
      <dgm:spPr/>
      <dgm:t>
        <a:bodyPr/>
        <a:lstStyle/>
        <a:p>
          <a:endParaRPr lang="en-US"/>
        </a:p>
      </dgm:t>
    </dgm:pt>
    <dgm:pt modelId="{1BFDF051-86D9-4A6F-9EA0-4DC1B6BFCA04}">
      <dgm:prSet/>
      <dgm:spPr/>
      <dgm:t>
        <a:bodyPr/>
        <a:lstStyle/>
        <a:p>
          <a:r>
            <a:rPr lang="en-US"/>
            <a:t>Period, Seconds Remaining in Period, Power Play Skaters, Penalty Kill Skaters, Power Play Team, Home Power Play, Score Differential, Penalty Minutes, Shots on Goal</a:t>
          </a:r>
        </a:p>
      </dgm:t>
    </dgm:pt>
    <dgm:pt modelId="{025DF238-AFA7-42D3-ADB5-ECC9101438F5}" type="parTrans" cxnId="{1B87A6AC-AC92-4833-BB04-84B6D18D9897}">
      <dgm:prSet/>
      <dgm:spPr/>
      <dgm:t>
        <a:bodyPr/>
        <a:lstStyle/>
        <a:p>
          <a:endParaRPr lang="en-US"/>
        </a:p>
      </dgm:t>
    </dgm:pt>
    <dgm:pt modelId="{21BF3377-1F1C-4042-A44D-74B7D30D74BC}" type="sibTrans" cxnId="{1B87A6AC-AC92-4833-BB04-84B6D18D9897}">
      <dgm:prSet/>
      <dgm:spPr/>
      <dgm:t>
        <a:bodyPr/>
        <a:lstStyle/>
        <a:p>
          <a:endParaRPr lang="en-US"/>
        </a:p>
      </dgm:t>
    </dgm:pt>
    <dgm:pt modelId="{F376F46D-850D-4D1A-888B-E25569EA0793}">
      <dgm:prSet/>
      <dgm:spPr/>
      <dgm:t>
        <a:bodyPr/>
        <a:lstStyle/>
        <a:p>
          <a:r>
            <a:rPr lang="en-US"/>
            <a:t>Evaluation Metrics</a:t>
          </a:r>
        </a:p>
      </dgm:t>
    </dgm:pt>
    <dgm:pt modelId="{00A5BA29-C7E0-49A6-B0C4-728BEB7FB1ED}" type="parTrans" cxnId="{A795BFE4-A736-4A00-9744-C8015E2B5F80}">
      <dgm:prSet/>
      <dgm:spPr/>
      <dgm:t>
        <a:bodyPr/>
        <a:lstStyle/>
        <a:p>
          <a:endParaRPr lang="en-US"/>
        </a:p>
      </dgm:t>
    </dgm:pt>
    <dgm:pt modelId="{CA6D718C-A6AC-46A5-A1B8-3886CA01A20F}" type="sibTrans" cxnId="{A795BFE4-A736-4A00-9744-C8015E2B5F80}">
      <dgm:prSet/>
      <dgm:spPr/>
      <dgm:t>
        <a:bodyPr/>
        <a:lstStyle/>
        <a:p>
          <a:endParaRPr lang="en-US"/>
        </a:p>
      </dgm:t>
    </dgm:pt>
    <dgm:pt modelId="{92C8B1E4-A5D6-4548-BF09-09655A09FE78}">
      <dgm:prSet/>
      <dgm:spPr/>
      <dgm:t>
        <a:bodyPr/>
        <a:lstStyle/>
        <a:p>
          <a:r>
            <a:rPr lang="en-US"/>
            <a:t>Brier Score and Accuracy</a:t>
          </a:r>
        </a:p>
      </dgm:t>
    </dgm:pt>
    <dgm:pt modelId="{FDA070D1-6B5F-4446-84A0-5A94ED0A49CC}" type="parTrans" cxnId="{1D741380-B060-4002-9F93-69411D951367}">
      <dgm:prSet/>
      <dgm:spPr/>
      <dgm:t>
        <a:bodyPr/>
        <a:lstStyle/>
        <a:p>
          <a:endParaRPr lang="en-US"/>
        </a:p>
      </dgm:t>
    </dgm:pt>
    <dgm:pt modelId="{B344665E-7EA7-48D5-83AE-7B1EA245988F}" type="sibTrans" cxnId="{1D741380-B060-4002-9F93-69411D951367}">
      <dgm:prSet/>
      <dgm:spPr/>
      <dgm:t>
        <a:bodyPr/>
        <a:lstStyle/>
        <a:p>
          <a:endParaRPr lang="en-US"/>
        </a:p>
      </dgm:t>
    </dgm:pt>
    <dgm:pt modelId="{F1D6654B-682D-4BC1-8617-E0CB8C212985}" type="pres">
      <dgm:prSet presAssocID="{DBBF2FB1-1D87-482D-8D61-6F4BDAB5BEA8}" presName="linear" presStyleCnt="0">
        <dgm:presLayoutVars>
          <dgm:dir/>
          <dgm:animLvl val="lvl"/>
          <dgm:resizeHandles val="exact"/>
        </dgm:presLayoutVars>
      </dgm:prSet>
      <dgm:spPr/>
    </dgm:pt>
    <dgm:pt modelId="{1628D8D7-A7B5-4B12-BF3C-48798DE51565}" type="pres">
      <dgm:prSet presAssocID="{E13E7390-7E0C-408B-B2AC-F7F6A269DF17}" presName="parentLin" presStyleCnt="0"/>
      <dgm:spPr/>
    </dgm:pt>
    <dgm:pt modelId="{C26EC2C0-B114-4119-B6D3-7C1B0156736C}" type="pres">
      <dgm:prSet presAssocID="{E13E7390-7E0C-408B-B2AC-F7F6A269DF17}" presName="parentLeftMargin" presStyleLbl="node1" presStyleIdx="0" presStyleCnt="3"/>
      <dgm:spPr/>
    </dgm:pt>
    <dgm:pt modelId="{EEE4A7FB-6ED5-47F0-934C-1898BB3B3452}" type="pres">
      <dgm:prSet presAssocID="{E13E7390-7E0C-408B-B2AC-F7F6A269DF1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DF7F56E-B525-4EE8-B85F-A638E6579CCB}" type="pres">
      <dgm:prSet presAssocID="{E13E7390-7E0C-408B-B2AC-F7F6A269DF17}" presName="negativeSpace" presStyleCnt="0"/>
      <dgm:spPr/>
    </dgm:pt>
    <dgm:pt modelId="{3AE1689D-B83E-470A-8129-A4157558DA90}" type="pres">
      <dgm:prSet presAssocID="{E13E7390-7E0C-408B-B2AC-F7F6A269DF17}" presName="childText" presStyleLbl="conFgAcc1" presStyleIdx="0" presStyleCnt="3">
        <dgm:presLayoutVars>
          <dgm:bulletEnabled val="1"/>
        </dgm:presLayoutVars>
      </dgm:prSet>
      <dgm:spPr/>
    </dgm:pt>
    <dgm:pt modelId="{7D3F0C00-28F9-42B8-BBF1-7388EF83003F}" type="pres">
      <dgm:prSet presAssocID="{D70956D5-DD4C-4630-B76B-536959CB365B}" presName="spaceBetweenRectangles" presStyleCnt="0"/>
      <dgm:spPr/>
    </dgm:pt>
    <dgm:pt modelId="{ACBBEEAE-EC66-47D2-AAE6-4B3446479D73}" type="pres">
      <dgm:prSet presAssocID="{40E1D17B-615C-425A-9A0D-8AA887C5924D}" presName="parentLin" presStyleCnt="0"/>
      <dgm:spPr/>
    </dgm:pt>
    <dgm:pt modelId="{1023EEFE-CE58-460E-8A41-637A2767CE99}" type="pres">
      <dgm:prSet presAssocID="{40E1D17B-615C-425A-9A0D-8AA887C5924D}" presName="parentLeftMargin" presStyleLbl="node1" presStyleIdx="0" presStyleCnt="3"/>
      <dgm:spPr/>
    </dgm:pt>
    <dgm:pt modelId="{33647DA4-0CCA-4FAF-820D-FFFB888BF0D1}" type="pres">
      <dgm:prSet presAssocID="{40E1D17B-615C-425A-9A0D-8AA887C5924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08EA181-EC51-4737-94EE-3108FDFBE60B}" type="pres">
      <dgm:prSet presAssocID="{40E1D17B-615C-425A-9A0D-8AA887C5924D}" presName="negativeSpace" presStyleCnt="0"/>
      <dgm:spPr/>
    </dgm:pt>
    <dgm:pt modelId="{EC0631A5-70C8-4653-B742-3E442BF5001D}" type="pres">
      <dgm:prSet presAssocID="{40E1D17B-615C-425A-9A0D-8AA887C5924D}" presName="childText" presStyleLbl="conFgAcc1" presStyleIdx="1" presStyleCnt="3">
        <dgm:presLayoutVars>
          <dgm:bulletEnabled val="1"/>
        </dgm:presLayoutVars>
      </dgm:prSet>
      <dgm:spPr/>
    </dgm:pt>
    <dgm:pt modelId="{F8422A76-535F-4352-BC67-0B5531E73911}" type="pres">
      <dgm:prSet presAssocID="{556AC535-2E99-4E55-BFC6-C09FAE64A781}" presName="spaceBetweenRectangles" presStyleCnt="0"/>
      <dgm:spPr/>
    </dgm:pt>
    <dgm:pt modelId="{1EE0C9B6-CB88-4648-B5E8-4D6857EE5A00}" type="pres">
      <dgm:prSet presAssocID="{F376F46D-850D-4D1A-888B-E25569EA0793}" presName="parentLin" presStyleCnt="0"/>
      <dgm:spPr/>
    </dgm:pt>
    <dgm:pt modelId="{C2327CE9-3130-46C6-98D0-758E52040F0D}" type="pres">
      <dgm:prSet presAssocID="{F376F46D-850D-4D1A-888B-E25569EA0793}" presName="parentLeftMargin" presStyleLbl="node1" presStyleIdx="1" presStyleCnt="3"/>
      <dgm:spPr/>
    </dgm:pt>
    <dgm:pt modelId="{B3780413-7DAF-4D07-8CC6-7A420C76722E}" type="pres">
      <dgm:prSet presAssocID="{F376F46D-850D-4D1A-888B-E25569EA079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7E83D5A-599E-4E7D-96D2-8495F2331756}" type="pres">
      <dgm:prSet presAssocID="{F376F46D-850D-4D1A-888B-E25569EA0793}" presName="negativeSpace" presStyleCnt="0"/>
      <dgm:spPr/>
    </dgm:pt>
    <dgm:pt modelId="{2FBA9959-27AE-45B7-A2CD-001D5AB29886}" type="pres">
      <dgm:prSet presAssocID="{F376F46D-850D-4D1A-888B-E25569EA079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3989E10-6140-4FFC-94D8-6A922F157B0A}" type="presOf" srcId="{40E1D17B-615C-425A-9A0D-8AA887C5924D}" destId="{33647DA4-0CCA-4FAF-820D-FFFB888BF0D1}" srcOrd="1" destOrd="0" presId="urn:microsoft.com/office/officeart/2005/8/layout/list1"/>
    <dgm:cxn modelId="{1EA9341F-A42C-4D58-B641-0BDEDD29680F}" type="presOf" srcId="{E13E7390-7E0C-408B-B2AC-F7F6A269DF17}" destId="{EEE4A7FB-6ED5-47F0-934C-1898BB3B3452}" srcOrd="1" destOrd="0" presId="urn:microsoft.com/office/officeart/2005/8/layout/list1"/>
    <dgm:cxn modelId="{46CAAE6F-E22B-457E-AFA7-A02E2F9FB9AD}" type="presOf" srcId="{40E1D17B-615C-425A-9A0D-8AA887C5924D}" destId="{1023EEFE-CE58-460E-8A41-637A2767CE99}" srcOrd="0" destOrd="0" presId="urn:microsoft.com/office/officeart/2005/8/layout/list1"/>
    <dgm:cxn modelId="{8345F175-5EE0-4045-84E2-42332C736643}" type="presOf" srcId="{F376F46D-850D-4D1A-888B-E25569EA0793}" destId="{B3780413-7DAF-4D07-8CC6-7A420C76722E}" srcOrd="1" destOrd="0" presId="urn:microsoft.com/office/officeart/2005/8/layout/list1"/>
    <dgm:cxn modelId="{C550B177-DAAE-4CAB-A22F-6BF797F1D77F}" type="presOf" srcId="{1BFDF051-86D9-4A6F-9EA0-4DC1B6BFCA04}" destId="{EC0631A5-70C8-4653-B742-3E442BF5001D}" srcOrd="0" destOrd="0" presId="urn:microsoft.com/office/officeart/2005/8/layout/list1"/>
    <dgm:cxn modelId="{1D741380-B060-4002-9F93-69411D951367}" srcId="{F376F46D-850D-4D1A-888B-E25569EA0793}" destId="{92C8B1E4-A5D6-4548-BF09-09655A09FE78}" srcOrd="0" destOrd="0" parTransId="{FDA070D1-6B5F-4446-84A0-5A94ED0A49CC}" sibTransId="{B344665E-7EA7-48D5-83AE-7B1EA245988F}"/>
    <dgm:cxn modelId="{B74E3686-52D8-437C-B922-BB2B9CE73B8E}" type="presOf" srcId="{F376F46D-850D-4D1A-888B-E25569EA0793}" destId="{C2327CE9-3130-46C6-98D0-758E52040F0D}" srcOrd="0" destOrd="0" presId="urn:microsoft.com/office/officeart/2005/8/layout/list1"/>
    <dgm:cxn modelId="{1D46708A-834B-4303-8923-80496B848E85}" type="presOf" srcId="{DBBF2FB1-1D87-482D-8D61-6F4BDAB5BEA8}" destId="{F1D6654B-682D-4BC1-8617-E0CB8C212985}" srcOrd="0" destOrd="0" presId="urn:microsoft.com/office/officeart/2005/8/layout/list1"/>
    <dgm:cxn modelId="{EC0A6B93-FA8C-4FAA-8416-19BE8EA441C2}" type="presOf" srcId="{60690107-F56D-4AD6-A4BB-017F0C5DA9A5}" destId="{3AE1689D-B83E-470A-8129-A4157558DA90}" srcOrd="0" destOrd="0" presId="urn:microsoft.com/office/officeart/2005/8/layout/list1"/>
    <dgm:cxn modelId="{1B87A6AC-AC92-4833-BB04-84B6D18D9897}" srcId="{40E1D17B-615C-425A-9A0D-8AA887C5924D}" destId="{1BFDF051-86D9-4A6F-9EA0-4DC1B6BFCA04}" srcOrd="0" destOrd="0" parTransId="{025DF238-AFA7-42D3-ADB5-ECC9101438F5}" sibTransId="{21BF3377-1F1C-4042-A44D-74B7D30D74BC}"/>
    <dgm:cxn modelId="{382219BE-F72E-451D-BA2B-04F9D98FDC88}" type="presOf" srcId="{92C8B1E4-A5D6-4548-BF09-09655A09FE78}" destId="{2FBA9959-27AE-45B7-A2CD-001D5AB29886}" srcOrd="0" destOrd="0" presId="urn:microsoft.com/office/officeart/2005/8/layout/list1"/>
    <dgm:cxn modelId="{D954B5E0-F6E7-4E6C-961E-3352FBCDD2AD}" srcId="{DBBF2FB1-1D87-482D-8D61-6F4BDAB5BEA8}" destId="{40E1D17B-615C-425A-9A0D-8AA887C5924D}" srcOrd="1" destOrd="0" parTransId="{73E9B357-742F-4C7E-AE22-1D84D2F74316}" sibTransId="{556AC535-2E99-4E55-BFC6-C09FAE64A781}"/>
    <dgm:cxn modelId="{39ADD8E1-57F4-4730-AC8E-E9ECB84F689F}" srcId="{E13E7390-7E0C-408B-B2AC-F7F6A269DF17}" destId="{60690107-F56D-4AD6-A4BB-017F0C5DA9A5}" srcOrd="0" destOrd="0" parTransId="{DBF80307-415F-494D-8C95-F766540B3E69}" sibTransId="{D767B553-7184-4D5C-8D7C-D96E57313484}"/>
    <dgm:cxn modelId="{A795BFE4-A736-4A00-9744-C8015E2B5F80}" srcId="{DBBF2FB1-1D87-482D-8D61-6F4BDAB5BEA8}" destId="{F376F46D-850D-4D1A-888B-E25569EA0793}" srcOrd="2" destOrd="0" parTransId="{00A5BA29-C7E0-49A6-B0C4-728BEB7FB1ED}" sibTransId="{CA6D718C-A6AC-46A5-A1B8-3886CA01A20F}"/>
    <dgm:cxn modelId="{271DBEE7-C15B-46B9-9E2F-5FF11B3F2A4B}" type="presOf" srcId="{E13E7390-7E0C-408B-B2AC-F7F6A269DF17}" destId="{C26EC2C0-B114-4119-B6D3-7C1B0156736C}" srcOrd="0" destOrd="0" presId="urn:microsoft.com/office/officeart/2005/8/layout/list1"/>
    <dgm:cxn modelId="{371081FB-7553-4A72-942E-CA994CA31BDE}" srcId="{DBBF2FB1-1D87-482D-8D61-6F4BDAB5BEA8}" destId="{E13E7390-7E0C-408B-B2AC-F7F6A269DF17}" srcOrd="0" destOrd="0" parTransId="{8136F43F-CF49-4B65-B43A-856362BE84BD}" sibTransId="{D70956D5-DD4C-4630-B76B-536959CB365B}"/>
    <dgm:cxn modelId="{A9AC7943-D131-4DBA-9446-5089785FECD7}" type="presParOf" srcId="{F1D6654B-682D-4BC1-8617-E0CB8C212985}" destId="{1628D8D7-A7B5-4B12-BF3C-48798DE51565}" srcOrd="0" destOrd="0" presId="urn:microsoft.com/office/officeart/2005/8/layout/list1"/>
    <dgm:cxn modelId="{EF829D74-3536-45BC-BB77-C0C8075404DB}" type="presParOf" srcId="{1628D8D7-A7B5-4B12-BF3C-48798DE51565}" destId="{C26EC2C0-B114-4119-B6D3-7C1B0156736C}" srcOrd="0" destOrd="0" presId="urn:microsoft.com/office/officeart/2005/8/layout/list1"/>
    <dgm:cxn modelId="{93E357F6-8E9D-44F1-9D0E-412CAD284748}" type="presParOf" srcId="{1628D8D7-A7B5-4B12-BF3C-48798DE51565}" destId="{EEE4A7FB-6ED5-47F0-934C-1898BB3B3452}" srcOrd="1" destOrd="0" presId="urn:microsoft.com/office/officeart/2005/8/layout/list1"/>
    <dgm:cxn modelId="{C75D46FC-0D38-4B1C-9F78-134C2BEB834B}" type="presParOf" srcId="{F1D6654B-682D-4BC1-8617-E0CB8C212985}" destId="{1DF7F56E-B525-4EE8-B85F-A638E6579CCB}" srcOrd="1" destOrd="0" presId="urn:microsoft.com/office/officeart/2005/8/layout/list1"/>
    <dgm:cxn modelId="{C6A8166F-C2AE-4335-AC1F-472952641C9E}" type="presParOf" srcId="{F1D6654B-682D-4BC1-8617-E0CB8C212985}" destId="{3AE1689D-B83E-470A-8129-A4157558DA90}" srcOrd="2" destOrd="0" presId="urn:microsoft.com/office/officeart/2005/8/layout/list1"/>
    <dgm:cxn modelId="{338B9CA2-D138-4CB4-AC44-85D06956779F}" type="presParOf" srcId="{F1D6654B-682D-4BC1-8617-E0CB8C212985}" destId="{7D3F0C00-28F9-42B8-BBF1-7388EF83003F}" srcOrd="3" destOrd="0" presId="urn:microsoft.com/office/officeart/2005/8/layout/list1"/>
    <dgm:cxn modelId="{C800605F-F969-48AC-8D5B-653CEB736B09}" type="presParOf" srcId="{F1D6654B-682D-4BC1-8617-E0CB8C212985}" destId="{ACBBEEAE-EC66-47D2-AAE6-4B3446479D73}" srcOrd="4" destOrd="0" presId="urn:microsoft.com/office/officeart/2005/8/layout/list1"/>
    <dgm:cxn modelId="{83FA2D2F-ABD8-45A8-A08D-65F83D0AC40D}" type="presParOf" srcId="{ACBBEEAE-EC66-47D2-AAE6-4B3446479D73}" destId="{1023EEFE-CE58-460E-8A41-637A2767CE99}" srcOrd="0" destOrd="0" presId="urn:microsoft.com/office/officeart/2005/8/layout/list1"/>
    <dgm:cxn modelId="{F39DBFB6-E0AA-445A-9DFA-867CDADCF64C}" type="presParOf" srcId="{ACBBEEAE-EC66-47D2-AAE6-4B3446479D73}" destId="{33647DA4-0CCA-4FAF-820D-FFFB888BF0D1}" srcOrd="1" destOrd="0" presId="urn:microsoft.com/office/officeart/2005/8/layout/list1"/>
    <dgm:cxn modelId="{4824A57D-3C00-4517-BF12-85B989D3D8E8}" type="presParOf" srcId="{F1D6654B-682D-4BC1-8617-E0CB8C212985}" destId="{808EA181-EC51-4737-94EE-3108FDFBE60B}" srcOrd="5" destOrd="0" presId="urn:microsoft.com/office/officeart/2005/8/layout/list1"/>
    <dgm:cxn modelId="{031AC1A4-F266-45BA-81A6-AEE95D7E8940}" type="presParOf" srcId="{F1D6654B-682D-4BC1-8617-E0CB8C212985}" destId="{EC0631A5-70C8-4653-B742-3E442BF5001D}" srcOrd="6" destOrd="0" presId="urn:microsoft.com/office/officeart/2005/8/layout/list1"/>
    <dgm:cxn modelId="{92B6C831-01D6-4793-85DB-03EA68919082}" type="presParOf" srcId="{F1D6654B-682D-4BC1-8617-E0CB8C212985}" destId="{F8422A76-535F-4352-BC67-0B5531E73911}" srcOrd="7" destOrd="0" presId="urn:microsoft.com/office/officeart/2005/8/layout/list1"/>
    <dgm:cxn modelId="{C9F9CA1E-986D-44E6-BBEC-8FE618CDA0B9}" type="presParOf" srcId="{F1D6654B-682D-4BC1-8617-E0CB8C212985}" destId="{1EE0C9B6-CB88-4648-B5E8-4D6857EE5A00}" srcOrd="8" destOrd="0" presId="urn:microsoft.com/office/officeart/2005/8/layout/list1"/>
    <dgm:cxn modelId="{C7059D26-5CC0-43D1-B229-EEE1CD0B4D57}" type="presParOf" srcId="{1EE0C9B6-CB88-4648-B5E8-4D6857EE5A00}" destId="{C2327CE9-3130-46C6-98D0-758E52040F0D}" srcOrd="0" destOrd="0" presId="urn:microsoft.com/office/officeart/2005/8/layout/list1"/>
    <dgm:cxn modelId="{B3636F60-F815-43BF-A29B-1E11505571AD}" type="presParOf" srcId="{1EE0C9B6-CB88-4648-B5E8-4D6857EE5A00}" destId="{B3780413-7DAF-4D07-8CC6-7A420C76722E}" srcOrd="1" destOrd="0" presId="urn:microsoft.com/office/officeart/2005/8/layout/list1"/>
    <dgm:cxn modelId="{805CEFA3-742D-42D2-9676-C4BC6E722366}" type="presParOf" srcId="{F1D6654B-682D-4BC1-8617-E0CB8C212985}" destId="{E7E83D5A-599E-4E7D-96D2-8495F2331756}" srcOrd="9" destOrd="0" presId="urn:microsoft.com/office/officeart/2005/8/layout/list1"/>
    <dgm:cxn modelId="{D741AFD0-0A4D-448A-B03D-E44F7FA04081}" type="presParOf" srcId="{F1D6654B-682D-4BC1-8617-E0CB8C212985}" destId="{2FBA9959-27AE-45B7-A2CD-001D5AB2988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E1689D-B83E-470A-8129-A4157558DA90}">
      <dsp:nvSpPr>
        <dsp:cNvPr id="0" name=""/>
        <dsp:cNvSpPr/>
      </dsp:nvSpPr>
      <dsp:spPr>
        <a:xfrm>
          <a:off x="0" y="574699"/>
          <a:ext cx="6666833" cy="935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58216" rIns="517420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Logit, Probit, and XGBoost</a:t>
          </a:r>
        </a:p>
      </dsp:txBody>
      <dsp:txXfrm>
        <a:off x="0" y="574699"/>
        <a:ext cx="6666833" cy="935550"/>
      </dsp:txXfrm>
    </dsp:sp>
    <dsp:sp modelId="{EEE4A7FB-6ED5-47F0-934C-1898BB3B3452}">
      <dsp:nvSpPr>
        <dsp:cNvPr id="0" name=""/>
        <dsp:cNvSpPr/>
      </dsp:nvSpPr>
      <dsp:spPr>
        <a:xfrm>
          <a:off x="333341" y="249979"/>
          <a:ext cx="4666783" cy="6494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Three models</a:t>
          </a:r>
        </a:p>
      </dsp:txBody>
      <dsp:txXfrm>
        <a:off x="365044" y="281682"/>
        <a:ext cx="4603377" cy="586034"/>
      </dsp:txXfrm>
    </dsp:sp>
    <dsp:sp modelId="{EC0631A5-70C8-4653-B742-3E442BF5001D}">
      <dsp:nvSpPr>
        <dsp:cNvPr id="0" name=""/>
        <dsp:cNvSpPr/>
      </dsp:nvSpPr>
      <dsp:spPr>
        <a:xfrm>
          <a:off x="0" y="1953770"/>
          <a:ext cx="6666833" cy="1871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58216" rIns="517420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Period, Seconds Remaining in Period, Power Play Skaters, Penalty Kill Skaters, Power Play Team, Home Power Play, Score Differential, Penalty Minutes, Shots on Goal</a:t>
          </a:r>
        </a:p>
      </dsp:txBody>
      <dsp:txXfrm>
        <a:off x="0" y="1953770"/>
        <a:ext cx="6666833" cy="1871100"/>
      </dsp:txXfrm>
    </dsp:sp>
    <dsp:sp modelId="{33647DA4-0CCA-4FAF-820D-FFFB888BF0D1}">
      <dsp:nvSpPr>
        <dsp:cNvPr id="0" name=""/>
        <dsp:cNvSpPr/>
      </dsp:nvSpPr>
      <dsp:spPr>
        <a:xfrm>
          <a:off x="333341" y="1629049"/>
          <a:ext cx="4666783" cy="64944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Predictors</a:t>
          </a:r>
        </a:p>
      </dsp:txBody>
      <dsp:txXfrm>
        <a:off x="365044" y="1660752"/>
        <a:ext cx="4603377" cy="586034"/>
      </dsp:txXfrm>
    </dsp:sp>
    <dsp:sp modelId="{2FBA9959-27AE-45B7-A2CD-001D5AB29886}">
      <dsp:nvSpPr>
        <dsp:cNvPr id="0" name=""/>
        <dsp:cNvSpPr/>
      </dsp:nvSpPr>
      <dsp:spPr>
        <a:xfrm>
          <a:off x="0" y="4268390"/>
          <a:ext cx="6666833" cy="935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58216" rIns="517420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Brier Score and Accuracy</a:t>
          </a:r>
        </a:p>
      </dsp:txBody>
      <dsp:txXfrm>
        <a:off x="0" y="4268390"/>
        <a:ext cx="6666833" cy="935550"/>
      </dsp:txXfrm>
    </dsp:sp>
    <dsp:sp modelId="{B3780413-7DAF-4D07-8CC6-7A420C76722E}">
      <dsp:nvSpPr>
        <dsp:cNvPr id="0" name=""/>
        <dsp:cNvSpPr/>
      </dsp:nvSpPr>
      <dsp:spPr>
        <a:xfrm>
          <a:off x="333341" y="3943670"/>
          <a:ext cx="4666783" cy="6494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Evaluation Metrics</a:t>
          </a:r>
        </a:p>
      </dsp:txBody>
      <dsp:txXfrm>
        <a:off x="365044" y="3975373"/>
        <a:ext cx="4603377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bXraKrjgjlM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hockey players in the net&#10;&#10;AI-generated content may be incorrect.">
            <a:extLst>
              <a:ext uri="{FF2B5EF4-FFF2-40B4-BE49-F238E27FC236}">
                <a16:creationId xmlns:a16="http://schemas.microsoft.com/office/drawing/2014/main" id="{C0A890C9-CF81-05C6-7F09-5C6C1B616B2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25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US" sz="6600" b="1">
                <a:solidFill>
                  <a:schemeClr val="accent1">
                    <a:lumMod val="20000"/>
                    <a:lumOff val="80000"/>
                  </a:schemeClr>
                </a:solidFill>
              </a:rPr>
              <a:t>NHL Power Play Goals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Analysis presented by: Benett </a:t>
            </a:r>
            <a:r>
              <a:rPr lang="en-US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Dervishaj</a:t>
            </a: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and Andrew Fish</a:t>
            </a:r>
          </a:p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SAL 608</a:t>
            </a:r>
          </a:p>
          <a:p>
            <a:r>
              <a:rPr lang="en-US" sz="1600" dirty="0">
                <a:solidFill>
                  <a:schemeClr val="accent1">
                    <a:lumMod val="20000"/>
                    <a:lumOff val="80000"/>
                  </a:schemeClr>
                </a:solidFill>
                <a:hlinkClick r:id="rId3"/>
              </a:rPr>
              <a:t>Video Link</a:t>
            </a:r>
            <a:endParaRPr lang="en-US" sz="1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2E7E51-94ED-A033-66C4-B49F33A84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1D0B7-4BD1-1298-88C1-F6E10AB61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/>
              <a:t>What machine learning model best predicts power play goals?</a:t>
            </a:r>
          </a:p>
          <a:p>
            <a:pPr marL="0" indent="0">
              <a:buNone/>
            </a:pPr>
            <a:endParaRPr lang="en-US" sz="2000" b="1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What factors influence power-play goals?</a:t>
            </a:r>
          </a:p>
          <a:p>
            <a:pPr marL="457200" lvl="1" indent="0">
              <a:buNone/>
            </a:pP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How does shot quality change as power play continues?</a:t>
            </a:r>
          </a:p>
          <a:p>
            <a:pPr marL="457200" lvl="1" indent="0">
              <a:buNone/>
            </a:pP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What are the goal totals per team?</a:t>
            </a:r>
          </a:p>
          <a:p>
            <a:pPr marL="457200" lvl="1" indent="0">
              <a:buNone/>
            </a:pP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What is the predicted power play percentage based on the best model?</a:t>
            </a:r>
          </a:p>
        </p:txBody>
      </p:sp>
    </p:spTree>
    <p:extLst>
      <p:ext uri="{BB962C8B-B14F-4D97-AF65-F5344CB8AC3E}">
        <p14:creationId xmlns:p14="http://schemas.microsoft.com/office/powerpoint/2010/main" val="3853643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50E6F7-6186-96BB-2B79-1B8DAED62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106D9-F1B7-5B0D-46A5-329FB4372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NHL play-by-play data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2023-24 Regular Season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Game, Team, and Player</a:t>
            </a:r>
          </a:p>
          <a:p>
            <a:endParaRPr lang="en-US" sz="2000"/>
          </a:p>
          <a:p>
            <a:r>
              <a:rPr lang="en-US" sz="2000"/>
              <a:t>Filtered into Shots, Penalties, and Faceoffs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Lined up identifier variables to clean data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Remove coincidental penalties, calculate Power Play Goals and Power Play Time Remaining</a:t>
            </a:r>
          </a:p>
          <a:p>
            <a:endParaRPr lang="en-US" sz="2000"/>
          </a:p>
          <a:p>
            <a:r>
              <a:rPr lang="en-US" sz="2000"/>
              <a:t>Fully cleaned data for predicting Power Play Goals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Period, Seconds Remaining in Period, Power Play Skaters, Penalty Kill Skaters, Power Play Team, Home Power Play, Score Differential, Penalty Minutes, Shots on Goal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81966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9986CB-9E55-C07F-9F38-797D2380C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Investigating the Data</a:t>
            </a:r>
          </a:p>
        </p:txBody>
      </p:sp>
      <p:pic>
        <p:nvPicPr>
          <p:cNvPr id="3" name="Picture 2" descr="A graph of a person advantage&#10;&#10;AI-generated content may be incorrect.">
            <a:extLst>
              <a:ext uri="{FF2B5EF4-FFF2-40B4-BE49-F238E27FC236}">
                <a16:creationId xmlns:a16="http://schemas.microsoft.com/office/drawing/2014/main" id="{8FF8DCB1-3C9A-D0B2-535F-C3A5075BE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510" y="467208"/>
            <a:ext cx="5923584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31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39173C-BFB4-9357-067B-B1D5980BD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3193" y="489507"/>
            <a:ext cx="3091607" cy="16554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Shot Analysis</a:t>
            </a:r>
          </a:p>
        </p:txBody>
      </p:sp>
      <p:pic>
        <p:nvPicPr>
          <p:cNvPr id="4" name="Content Placeholder 3" descr="A screen shot of a diagram&#10;&#10;AI-generated content may be incorrect.">
            <a:extLst>
              <a:ext uri="{FF2B5EF4-FFF2-40B4-BE49-F238E27FC236}">
                <a16:creationId xmlns:a16="http://schemas.microsoft.com/office/drawing/2014/main" id="{E79BBD56-81E0-FBBE-8611-C4A670D2630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0041" r="-1" b="10992"/>
          <a:stretch>
            <a:fillRect/>
          </a:stretch>
        </p:blipFill>
        <p:spPr>
          <a:xfrm>
            <a:off x="20" y="431"/>
            <a:ext cx="8115280" cy="6408311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BDBECF-247E-75CA-D932-69D3303EC5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43193" y="2418408"/>
            <a:ext cx="2942813" cy="3540265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/>
              <a:t>Clustering of all Power Play Shots on Goal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/>
              <a:t>Overload v Umbrella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/>
              <a:t>Does the quality of Shots on Goal change with time?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56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BC74AE-7912-DA04-B486-41F056468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3193" y="489507"/>
            <a:ext cx="3091607" cy="16554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Shots Over Time</a:t>
            </a:r>
          </a:p>
        </p:txBody>
      </p:sp>
      <p:pic>
        <p:nvPicPr>
          <p:cNvPr id="5" name="Picture Placeholder 4" descr="A screen shot of a computer generated image&#10;&#10;AI-generated content may be incorrect.">
            <a:extLst>
              <a:ext uri="{FF2B5EF4-FFF2-40B4-BE49-F238E27FC236}">
                <a16:creationId xmlns:a16="http://schemas.microsoft.com/office/drawing/2014/main" id="{5BEFEDAB-B710-59C0-AC83-031B0228707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1798" r="-1" b="9235"/>
          <a:stretch>
            <a:fillRect/>
          </a:stretch>
        </p:blipFill>
        <p:spPr>
          <a:xfrm>
            <a:off x="20" y="431"/>
            <a:ext cx="8115280" cy="640831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D1315F-F5DB-F819-A352-277735378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43193" y="2418408"/>
            <a:ext cx="2942813" cy="3540265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000"/>
              <a:t>Short Answer</a:t>
            </a:r>
          </a:p>
          <a:p>
            <a:pPr marL="800100" lvl="1" indent="-228600">
              <a:buFont typeface="Arial" panose="020B0604020202020204" pitchFamily="34" charset="0"/>
              <a:buChar char="•"/>
            </a:pPr>
            <a:r>
              <a:rPr lang="en-US" sz="2000"/>
              <a:t>No</a:t>
            </a:r>
          </a:p>
          <a:p>
            <a:pPr marL="800100" lvl="1" indent="-228600"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000"/>
              <a:t>Long Answer</a:t>
            </a:r>
          </a:p>
          <a:p>
            <a:pPr marL="800100" lvl="1" indent="-228600">
              <a:buFont typeface="Arial" panose="020B0604020202020204" pitchFamily="34" charset="0"/>
              <a:buChar char="•"/>
            </a:pPr>
            <a:r>
              <a:rPr lang="en-US" sz="2000"/>
              <a:t>Depends on the game situation</a:t>
            </a:r>
          </a:p>
          <a:p>
            <a:pPr marL="800100" lvl="1" indent="-228600">
              <a:buFont typeface="Arial" panose="020B0604020202020204" pitchFamily="34" charset="0"/>
              <a:buChar char="•"/>
            </a:pPr>
            <a:r>
              <a:rPr lang="en-US" sz="2000"/>
              <a:t>Set plays</a:t>
            </a:r>
          </a:p>
          <a:p>
            <a:pPr marL="800100" lvl="1" indent="-228600">
              <a:buFont typeface="Arial" panose="020B0604020202020204" pitchFamily="34" charset="0"/>
              <a:buChar char="•"/>
            </a:pPr>
            <a:r>
              <a:rPr lang="en-US" sz="2000"/>
              <a:t>Power Play set-up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372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0CA3F1-5D8E-E818-0858-53F4260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Modeling</a:t>
            </a:r>
          </a:p>
        </p:txBody>
      </p:sp>
      <p:graphicFrame>
        <p:nvGraphicFramePr>
          <p:cNvPr id="44" name="Content Placeholder 2">
            <a:extLst>
              <a:ext uri="{FF2B5EF4-FFF2-40B4-BE49-F238E27FC236}">
                <a16:creationId xmlns:a16="http://schemas.microsoft.com/office/drawing/2014/main" id="{4D3BDE55-4FE4-DC32-2544-439663A25C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827666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33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12A696-ADD3-F32F-A001-324380172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Logit and Probit Regression</a:t>
            </a:r>
            <a:br>
              <a:rPr lang="en-US" sz="4000">
                <a:solidFill>
                  <a:srgbClr val="FFFFFF"/>
                </a:solidFill>
              </a:rPr>
            </a:br>
            <a:r>
              <a:rPr lang="en-US" sz="1000">
                <a:solidFill>
                  <a:srgbClr val="FFFFFF"/>
                </a:solidFill>
              </a:rPr>
              <a:t>See R Model summary in </a:t>
            </a:r>
            <a:r>
              <a:rPr lang="en-US" sz="1000">
                <a:solidFill>
                  <a:srgbClr val="FFFFFF"/>
                </a:solidFill>
                <a:hlinkClick r:id="rId2" action="ppaction://hlinksldjump"/>
              </a:rPr>
              <a:t>Appendix A</a:t>
            </a:r>
            <a:endParaRPr lang="en-US" sz="1000" kern="12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9FCB7C-03DF-7E8A-9B6A-184BB074A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b="1">
                <a:highlight>
                  <a:srgbClr val="FFFF00"/>
                </a:highlight>
              </a:rPr>
              <a:t>Key Findings: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FF0000"/>
                </a:solidFill>
              </a:rPr>
              <a:t>Significant at 1%:</a:t>
            </a:r>
          </a:p>
          <a:p>
            <a:pPr marL="1200150" lvl="2" indent="-228600">
              <a:buFont typeface="Arial" panose="020B0604020202020204" pitchFamily="34" charset="0"/>
              <a:buChar char="•"/>
            </a:pPr>
            <a:r>
              <a:rPr lang="en-US" sz="2000"/>
              <a:t>Penalty Kill Skaters</a:t>
            </a:r>
          </a:p>
          <a:p>
            <a:pPr marL="1200150" lvl="2" indent="-228600">
              <a:buFont typeface="Arial" panose="020B0604020202020204" pitchFamily="34" charset="0"/>
              <a:buChar char="•"/>
            </a:pPr>
            <a:r>
              <a:rPr lang="en-US" sz="2000"/>
              <a:t>Shots on Goal</a:t>
            </a:r>
          </a:p>
          <a:p>
            <a:pPr marL="1200150" lvl="2" indent="-228600">
              <a:buFont typeface="Arial" panose="020B0604020202020204" pitchFamily="34" charset="0"/>
              <a:buChar char="•"/>
            </a:pPr>
            <a:r>
              <a:rPr lang="en-US" sz="2000"/>
              <a:t>Tampa Bay Lightning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FF0000"/>
                </a:solidFill>
              </a:rPr>
              <a:t>Significant at 5%:</a:t>
            </a:r>
          </a:p>
          <a:p>
            <a:pPr marL="1200150" lvl="2" indent="-228600">
              <a:buFont typeface="Arial" panose="020B0604020202020204" pitchFamily="34" charset="0"/>
              <a:buChar char="•"/>
            </a:pPr>
            <a:r>
              <a:rPr lang="en-US" sz="2000"/>
              <a:t>Chicago Blackhawks</a:t>
            </a:r>
          </a:p>
          <a:p>
            <a:pPr marL="1200150" lvl="2" indent="-228600">
              <a:buFont typeface="Arial" panose="020B0604020202020204" pitchFamily="34" charset="0"/>
              <a:buChar char="•"/>
            </a:pPr>
            <a:r>
              <a:rPr lang="en-US" sz="2000"/>
              <a:t>Dallas Stars</a:t>
            </a:r>
          </a:p>
          <a:p>
            <a:pPr marL="1200150" lvl="2" indent="-228600">
              <a:buFont typeface="Arial" panose="020B0604020202020204" pitchFamily="34" charset="0"/>
              <a:buChar char="•"/>
            </a:pPr>
            <a:r>
              <a:rPr lang="en-US" sz="2000"/>
              <a:t>Florida Panthers</a:t>
            </a:r>
          </a:p>
          <a:p>
            <a:pPr marL="1200150" lvl="2" indent="-228600">
              <a:buFont typeface="Arial" panose="020B0604020202020204" pitchFamily="34" charset="0"/>
              <a:buChar char="•"/>
            </a:pPr>
            <a:r>
              <a:rPr lang="en-US" sz="2000"/>
              <a:t>St. Louis Blues</a:t>
            </a:r>
          </a:p>
          <a:p>
            <a:pPr marL="1200150" lvl="2" indent="-228600">
              <a:buFont typeface="Arial" panose="020B0604020202020204" pitchFamily="34" charset="0"/>
              <a:buChar char="•"/>
            </a:pPr>
            <a:r>
              <a:rPr lang="en-US" sz="2000"/>
              <a:t>Washington Capitals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FF0000"/>
                </a:solidFill>
              </a:rPr>
              <a:t>Significant at 10%:</a:t>
            </a:r>
          </a:p>
          <a:p>
            <a:pPr marL="1200150" lvl="2" indent="-228600">
              <a:buFont typeface="Arial" panose="020B0604020202020204" pitchFamily="34" charset="0"/>
              <a:buChar char="•"/>
            </a:pPr>
            <a:r>
              <a:rPr lang="en-US" sz="2000"/>
              <a:t>Arizona Coyotes</a:t>
            </a:r>
          </a:p>
          <a:p>
            <a:pPr marL="1200150" lvl="2" indent="-228600">
              <a:buFont typeface="Arial" panose="020B0604020202020204" pitchFamily="34" charset="0"/>
              <a:buChar char="•"/>
            </a:pPr>
            <a:r>
              <a:rPr lang="en-US" sz="2000"/>
              <a:t>Colorado Avalanche</a:t>
            </a:r>
          </a:p>
          <a:p>
            <a:pPr marL="1200150" lvl="2" indent="-228600">
              <a:buFont typeface="Arial" panose="020B0604020202020204" pitchFamily="34" charset="0"/>
              <a:buChar char="•"/>
            </a:pPr>
            <a:r>
              <a:rPr lang="en-US" sz="2000"/>
              <a:t>Minnesota Wild</a:t>
            </a:r>
          </a:p>
          <a:p>
            <a:pPr marL="1200150" lvl="2" indent="-228600">
              <a:buFont typeface="Arial" panose="020B0604020202020204" pitchFamily="34" charset="0"/>
              <a:buChar char="•"/>
            </a:pPr>
            <a:r>
              <a:rPr lang="en-US" sz="2000"/>
              <a:t>Penalty Minutes</a:t>
            </a:r>
          </a:p>
        </p:txBody>
      </p:sp>
    </p:spTree>
    <p:extLst>
      <p:ext uri="{BB962C8B-B14F-4D97-AF65-F5344CB8AC3E}">
        <p14:creationId xmlns:p14="http://schemas.microsoft.com/office/powerpoint/2010/main" val="2270595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E495E-0CD4-1874-5E3F-9C9163097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Model Comparison</a:t>
            </a:r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208D34C-5CED-9D90-9035-3601284117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8" r="1018"/>
          <a:stretch>
            <a:fillRect/>
          </a:stretch>
        </p:blipFill>
        <p:spPr>
          <a:xfrm>
            <a:off x="715748" y="2300825"/>
            <a:ext cx="5131088" cy="3758839"/>
          </a:xfrm>
          <a:prstGeom prst="rect">
            <a:avLst/>
          </a:prstGeom>
        </p:spPr>
      </p:pic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1A744B26-BB8F-C3F8-5E6C-EF9A43D94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2218882"/>
            <a:ext cx="5131087" cy="399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861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9332BE-615F-4DA7-C1B9-093BD7AD2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Variable Importance Using SHAP</a:t>
            </a:r>
          </a:p>
        </p:txBody>
      </p:sp>
      <p:pic>
        <p:nvPicPr>
          <p:cNvPr id="9" name="Picture 8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4C60F6D0-19C7-D826-7F73-AB735EB9D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1198048"/>
            <a:ext cx="7225748" cy="446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82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8B1F8-EA6E-7E59-5952-F21370FD5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82" y="221527"/>
            <a:ext cx="5196182" cy="1600200"/>
          </a:xfrm>
        </p:spPr>
        <p:txBody>
          <a:bodyPr/>
          <a:lstStyle/>
          <a:p>
            <a:pPr algn="ctr"/>
            <a:r>
              <a:rPr lang="en-US"/>
              <a:t>Power Play Goals by Team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54F510-118A-10BD-D788-E0A9E7696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9620" y="2057400"/>
            <a:ext cx="3932237" cy="38115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b="1"/>
              <a:t>League Leaders: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/>
              <a:t>Minnesota Wild: 40+ goals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/>
              <a:t>Florida Panthers: 35+ goals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/>
              <a:t>Washington Capitals: 30+ goals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Correlation to Win/Loss?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 b="1" i="1"/>
              <a:t>Minnesota Wild:</a:t>
            </a:r>
            <a:r>
              <a:rPr lang="en-US" sz="1600"/>
              <a:t> 39-34-9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 b="1" i="1">
                <a:solidFill>
                  <a:srgbClr val="FF0000"/>
                </a:solidFill>
              </a:rPr>
              <a:t>Florida Panthers:</a:t>
            </a:r>
            <a:r>
              <a:rPr lang="en-US" sz="1600" b="1">
                <a:solidFill>
                  <a:srgbClr val="FF0000"/>
                </a:solidFill>
              </a:rPr>
              <a:t> 52-24-6</a:t>
            </a:r>
          </a:p>
          <a:p>
            <a:pPr marL="1200150" lvl="2" indent="-285750">
              <a:buFont typeface="Wingdings" panose="020B0604020202020204" pitchFamily="34" charset="0"/>
              <a:buChar char="§"/>
            </a:pPr>
            <a:r>
              <a:rPr lang="en-US" sz="1400" b="1">
                <a:solidFill>
                  <a:srgbClr val="FF0000"/>
                </a:solidFill>
              </a:rPr>
              <a:t>Stanley Cup Champions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 b="1" i="1"/>
              <a:t>Washington Capitals:</a:t>
            </a:r>
            <a:r>
              <a:rPr lang="en-US" sz="1600"/>
              <a:t> 40-31-11</a:t>
            </a:r>
          </a:p>
        </p:txBody>
      </p:sp>
      <p:pic>
        <p:nvPicPr>
          <p:cNvPr id="20" name="Picture Placeholder 19" descr="A graph of a power play goal&#10;&#10;AI-generated content may be incorrect.">
            <a:extLst>
              <a:ext uri="{FF2B5EF4-FFF2-40B4-BE49-F238E27FC236}">
                <a16:creationId xmlns:a16="http://schemas.microsoft.com/office/drawing/2014/main" id="{EEA5484F-0E99-2012-DC79-D5ED24AD9A4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61" r="1894" b="-36"/>
          <a:stretch>
            <a:fillRect/>
          </a:stretch>
        </p:blipFill>
        <p:spPr>
          <a:xfrm>
            <a:off x="4741655" y="1236677"/>
            <a:ext cx="7325611" cy="463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947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2615BB-1B29-F516-94CF-782428466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373" y="457200"/>
            <a:ext cx="9625253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1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AF649-C40D-59D2-998C-8DB42A3B4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Power Play Percentage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502AA9-580A-4458-72EE-CF63072A6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510" y="467208"/>
            <a:ext cx="5923584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531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1521AB-6B48-0850-D08D-8A421A800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Limitations and Further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FA278-C569-6689-A839-CC43DA679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Limitations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Data</a:t>
            </a:r>
          </a:p>
          <a:p>
            <a:pPr lvl="2">
              <a:buFont typeface="Wingdings" panose="020B0604020202020204" pitchFamily="34" charset="0"/>
              <a:buChar char="§"/>
            </a:pP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Messy and missing values</a:t>
            </a:r>
          </a:p>
          <a:p>
            <a:pPr lvl="2">
              <a:buFont typeface="Wingdings" panose="020B0604020202020204" pitchFamily="34" charset="0"/>
              <a:buChar char="§"/>
            </a:pPr>
            <a:endParaRPr lang="en-US"/>
          </a:p>
          <a:p>
            <a:r>
              <a:rPr lang="en-US" sz="2000"/>
              <a:t>Further Research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Multiple Years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Power Play Type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Goal Cluster Analysis</a:t>
            </a:r>
          </a:p>
          <a:p>
            <a:pPr lvl="2">
              <a:buFont typeface="Wingdings" panose="020B0604020202020204" pitchFamily="34" charset="0"/>
              <a:buChar char="§"/>
            </a:pP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Penalty Kill Strategy</a:t>
            </a:r>
          </a:p>
        </p:txBody>
      </p:sp>
    </p:spTree>
    <p:extLst>
      <p:ext uri="{BB962C8B-B14F-4D97-AF65-F5344CB8AC3E}">
        <p14:creationId xmlns:p14="http://schemas.microsoft.com/office/powerpoint/2010/main" val="674244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BEA4A-27F2-49F7-6061-EA01DEEE0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Appendix A</a:t>
            </a:r>
          </a:p>
        </p:txBody>
      </p:sp>
      <p:pic>
        <p:nvPicPr>
          <p:cNvPr id="5" name="Picture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FF6EB1-FFAE-1088-5D64-440E2F7B1C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15" r="1139" b="4525"/>
          <a:stretch>
            <a:fillRect/>
          </a:stretch>
        </p:blipFill>
        <p:spPr>
          <a:xfrm>
            <a:off x="4907406" y="658565"/>
            <a:ext cx="3094075" cy="4378296"/>
          </a:xfrm>
          <a:prstGeom prst="rect">
            <a:avLst/>
          </a:prstGeom>
        </p:spPr>
      </p:pic>
      <p:pic>
        <p:nvPicPr>
          <p:cNvPr id="7" name="Picture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AF397E-F925-7278-57CA-4417B42130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0" t="2431" r="-208"/>
          <a:stretch>
            <a:fillRect/>
          </a:stretch>
        </p:blipFill>
        <p:spPr>
          <a:xfrm>
            <a:off x="8422365" y="655486"/>
            <a:ext cx="3421939" cy="438078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DC1272C-55A4-A69D-ED2B-B77ABDF6DC9E}"/>
              </a:ext>
            </a:extLst>
          </p:cNvPr>
          <p:cNvSpPr txBox="1">
            <a:spLocks/>
          </p:cNvSpPr>
          <p:nvPr/>
        </p:nvSpPr>
        <p:spPr>
          <a:xfrm>
            <a:off x="5868597" y="5087892"/>
            <a:ext cx="1036514" cy="743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solidFill>
                  <a:srgbClr val="FF0000"/>
                </a:solidFill>
              </a:rPr>
              <a:t>Logit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E724D6C-5AD8-3671-E619-EE3A86CCC912}"/>
              </a:ext>
            </a:extLst>
          </p:cNvPr>
          <p:cNvSpPr txBox="1">
            <a:spLocks/>
          </p:cNvSpPr>
          <p:nvPr/>
        </p:nvSpPr>
        <p:spPr>
          <a:xfrm>
            <a:off x="9614502" y="5087891"/>
            <a:ext cx="1036514" cy="743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solidFill>
                  <a:srgbClr val="FF0000"/>
                </a:solidFill>
              </a:rPr>
              <a:t>Probit</a:t>
            </a:r>
          </a:p>
        </p:txBody>
      </p:sp>
    </p:spTree>
    <p:extLst>
      <p:ext uri="{BB962C8B-B14F-4D97-AF65-F5344CB8AC3E}">
        <p14:creationId xmlns:p14="http://schemas.microsoft.com/office/powerpoint/2010/main" val="3416965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379</Words>
  <Application>Microsoft Office PowerPoint</Application>
  <PresentationFormat>Widescreen</PresentationFormat>
  <Paragraphs>97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Wingdings</vt:lpstr>
      <vt:lpstr>office theme</vt:lpstr>
      <vt:lpstr>NHL Power Play Goals</vt:lpstr>
      <vt:lpstr>Research Questions</vt:lpstr>
      <vt:lpstr>Data</vt:lpstr>
      <vt:lpstr>Investigating the Data</vt:lpstr>
      <vt:lpstr>Shot Analysis</vt:lpstr>
      <vt:lpstr>Shots Over Time</vt:lpstr>
      <vt:lpstr>Modeling</vt:lpstr>
      <vt:lpstr>Logit and Probit Regression See R Model summary in Appendix A</vt:lpstr>
      <vt:lpstr>Model Comparison</vt:lpstr>
      <vt:lpstr>Variable Importance Using SHAP</vt:lpstr>
      <vt:lpstr>Power Play Goals by Team</vt:lpstr>
      <vt:lpstr>PowerPoint Presentation</vt:lpstr>
      <vt:lpstr>Power Play Percentage</vt:lpstr>
      <vt:lpstr>Limitations and Further Research</vt:lpstr>
      <vt:lpstr>Appendix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Fish</dc:creator>
  <cp:lastModifiedBy>Andrew Fish</cp:lastModifiedBy>
  <cp:revision>3</cp:revision>
  <dcterms:created xsi:type="dcterms:W3CDTF">2025-12-01T21:32:35Z</dcterms:created>
  <dcterms:modified xsi:type="dcterms:W3CDTF">2025-12-07T00:37:03Z</dcterms:modified>
</cp:coreProperties>
</file>