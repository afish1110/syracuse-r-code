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3" r:id="rId1"/>
  </p:sld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3E03A-FBD7-2E46-5A2E-7685408276A4}" v="655" dt="2025-10-16T02:07:30.023"/>
    <p1510:client id="{3E1B1F70-724D-AEC2-0ED0-FB7D640F39F0}" v="46" dt="2025-10-14T14:02:24.500"/>
    <p1510:client id="{8F9FB9C2-9BE5-279B-B97C-CA2BF5D49B0F}" v="1" dt="2025-10-16T00:44:41.820"/>
    <p1510:client id="{A1D5D9F3-2768-C488-51CB-0CC6EFEA92CB}" v="1053" dt="2025-10-16T02:16:22.871"/>
    <p1510:client id="{A51F8D00-E246-E450-DB42-73282A50E325}" v="125" dt="2025-10-16T02:15:59.635"/>
    <p1510:client id="{F81812C8-5173-2429-AB6F-CC92A5AC24CB}" v="1560" dt="2025-10-16T02:07:46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91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11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7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90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0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0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6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01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4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309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7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6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16" r:id="rId6"/>
    <p:sldLayoutId id="2147483812" r:id="rId7"/>
    <p:sldLayoutId id="2147483813" r:id="rId8"/>
    <p:sldLayoutId id="2147483814" r:id="rId9"/>
    <p:sldLayoutId id="2147483815" r:id="rId10"/>
    <p:sldLayoutId id="21474838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ollage of baseball players&#10;&#10;AI-generated content may be incorrect.">
            <a:extLst>
              <a:ext uri="{FF2B5EF4-FFF2-40B4-BE49-F238E27FC236}">
                <a16:creationId xmlns:a16="http://schemas.microsoft.com/office/drawing/2014/main" id="{34CD503E-C0F8-EF92-433D-D137AA0AD4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-51641" y="10"/>
            <a:ext cx="12191979" cy="685799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8D19661F-4B4C-74C1-7FC3-31FB14D4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6955" y="-166956"/>
            <a:ext cx="6858002" cy="719191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55000"/>
                </a:schemeClr>
              </a:gs>
              <a:gs pos="25000">
                <a:schemeClr val="bg1">
                  <a:alpha val="38000"/>
                </a:schemeClr>
              </a:gs>
              <a:gs pos="100000">
                <a:schemeClr val="bg1">
                  <a:alpha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1124712"/>
            <a:ext cx="4023360" cy="3200400"/>
          </a:xfrm>
        </p:spPr>
        <p:txBody>
          <a:bodyPr anchor="b">
            <a:normAutofit fontScale="90000"/>
          </a:bodyPr>
          <a:lstStyle/>
          <a:p>
            <a:r>
              <a:rPr lang="en-US" sz="4800"/>
              <a:t>Analyzing the Effectiveness of Cy Young Award Winners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488" y="4873752"/>
            <a:ext cx="5114698" cy="1207008"/>
          </a:xfrm>
        </p:spPr>
        <p:txBody>
          <a:bodyPr anchor="t">
            <a:normAutofit/>
          </a:bodyPr>
          <a:lstStyle/>
          <a:p>
            <a:r>
              <a:rPr lang="en-US" sz="2000"/>
              <a:t>Presented by: Derek </a:t>
            </a:r>
            <a:r>
              <a:rPr lang="en-US" sz="2000" err="1"/>
              <a:t>Cunius</a:t>
            </a:r>
            <a:r>
              <a:rPr lang="en-US" sz="2000"/>
              <a:t>, Benett </a:t>
            </a:r>
            <a:r>
              <a:rPr lang="en-US" sz="2000" err="1"/>
              <a:t>Dervishaj</a:t>
            </a:r>
            <a:r>
              <a:rPr lang="en-US" sz="2000"/>
              <a:t>, and Andrew Fish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165A4AE-FFE9-B2D5-017C-17337DDB3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0E701D1-A34F-CF86-7316-8761C7835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22B73-1361-F76C-5CA1-1D5B1917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0E6C6-6C4C-0991-D411-5B9074C70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4709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know the Cy Young Winners are the most dominant pitchers of the year</a:t>
            </a:r>
          </a:p>
          <a:p>
            <a:r>
              <a:rPr lang="en-US"/>
              <a:t>Using Run Value or how pitchers limit Run Value to see just how dominant they were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Run Value measures run contribution of each plate appearance</a:t>
            </a:r>
          </a:p>
          <a:p>
            <a:r>
              <a:rPr lang="en-US"/>
              <a:t>Compared run value on pitches to a control (10% random sample of all pitches for the year)</a:t>
            </a:r>
          </a:p>
        </p:txBody>
      </p:sp>
    </p:spTree>
    <p:extLst>
      <p:ext uri="{BB962C8B-B14F-4D97-AF65-F5344CB8AC3E}">
        <p14:creationId xmlns:p14="http://schemas.microsoft.com/office/powerpoint/2010/main" val="1873004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D2B69-3AC0-AC1F-EB40-6AF50C797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464710"/>
            <a:ext cx="2907969" cy="28617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ShinyApp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FBBD633A-386A-31D9-2AC7-2F0AFDFF9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7304" y="247626"/>
            <a:ext cx="8094276" cy="635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01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2B5238-78C4-0E96-FCAF-E7867A8F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978619"/>
            <a:ext cx="5991244" cy="110642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/>
              <a:t>Cumulative Run Value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8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34DE52E-9C24-87D0-EDA5-94E56E94D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252870"/>
            <a:ext cx="5993892" cy="35602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/>
              <a:t>Table on the right shows a comparison of the dominance each Cy Young Winner's season</a:t>
            </a:r>
          </a:p>
          <a:p>
            <a:r>
              <a:rPr lang="en-US" sz="1800"/>
              <a:t>Note the range in Run Value from the best season Clayton Kershaw 2014 and the worst Rick Porcello 2016</a:t>
            </a:r>
          </a:p>
        </p:txBody>
      </p:sp>
      <p:pic>
        <p:nvPicPr>
          <p:cNvPr id="4" name="Content Placeholder 3" descr="A screenshot of a screen with numbers and numbers&#10;&#10;AI-generated content may be incorrect.">
            <a:extLst>
              <a:ext uri="{FF2B5EF4-FFF2-40B4-BE49-F238E27FC236}">
                <a16:creationId xmlns:a16="http://schemas.microsoft.com/office/drawing/2014/main" id="{5CAD31A8-6C42-65DA-4D64-BE5A1A555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024" y="70642"/>
            <a:ext cx="3471472" cy="671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94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E20B3-74C1-CCDA-C143-AC1EC8BF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Shiny: Pitch Movement Breakdown</a:t>
            </a:r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52803C64-B8EF-EB89-7002-CAB4CAEE5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921" y="2232144"/>
            <a:ext cx="9611260" cy="386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97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0C94-9A77-4FCA-AD8B-0D7EE3E30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Metric: </a:t>
            </a:r>
            <a:r>
              <a:rPr lang="en-US" err="1"/>
              <a:t>tOPS</a:t>
            </a:r>
            <a:r>
              <a:rPr lang="en-US"/>
              <a:t>+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79A587A-A6E8-B751-E159-C6C272E14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896" y="2344669"/>
            <a:ext cx="11575770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Defined: Statistic that focuses on leverage situations (lineup order, count, lefty-righty, runners on base, </a:t>
            </a:r>
            <a:r>
              <a:rPr lang="en-US" err="1"/>
              <a:t>etc</a:t>
            </a:r>
            <a:r>
              <a:rPr lang="en-US"/>
              <a:t>). (</a:t>
            </a:r>
            <a:r>
              <a:rPr lang="en-US" err="1"/>
              <a:t>baseballreference</a:t>
            </a:r>
            <a:r>
              <a:rPr lang="en-US"/>
              <a:t>)</a:t>
            </a:r>
          </a:p>
          <a:p>
            <a:r>
              <a:rPr lang="en-US"/>
              <a:t>Analyzing how effective pitchers are in certain counts can have important implications on roster decisions, matchups, and pitch mix.</a:t>
            </a:r>
          </a:p>
          <a:p>
            <a:r>
              <a:rPr lang="en-US" b="1" u="sng"/>
              <a:t>Average </a:t>
            </a:r>
            <a:r>
              <a:rPr lang="en-US" b="1" u="sng" err="1"/>
              <a:t>tOPS</a:t>
            </a:r>
            <a:r>
              <a:rPr lang="en-US" b="1" u="sng"/>
              <a:t>+ = 100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Higher = Worse for Pitcher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Lower = Better for Pitcher</a:t>
            </a:r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19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0534F-A80F-6C53-9290-9283A14E9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538728" cy="1645920"/>
          </a:xfrm>
        </p:spPr>
        <p:txBody>
          <a:bodyPr>
            <a:normAutofit/>
          </a:bodyPr>
          <a:lstStyle/>
          <a:p>
            <a:r>
              <a:rPr lang="en-US" sz="3200"/>
              <a:t>Metric: tOPS+ Cont.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140521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2C175-BBB8-0150-7A34-70B078828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6961" y="1427158"/>
            <a:ext cx="6007608" cy="1624556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r>
              <a:rPr lang="en-US" sz="1800"/>
              <a:t>AL vs NL Cy Young Winner </a:t>
            </a:r>
            <a:r>
              <a:rPr lang="en-US" sz="1800" err="1"/>
              <a:t>tOPS</a:t>
            </a:r>
            <a:r>
              <a:rPr lang="en-US" sz="1800"/>
              <a:t>+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AL pitchers are more effective in 2 strike counts. (2-2 counts especially)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NL pitchers are more effective with zero strikes. (2-0, 3-0 counts)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/>
              <a:t>Overall balanced at 1 strike counts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  <a:p>
            <a:pPr marL="457200" lvl="1" indent="0">
              <a:buNone/>
            </a:pP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endParaRPr lang="en-US" sz="1800"/>
          </a:p>
        </p:txBody>
      </p:sp>
      <p:pic>
        <p:nvPicPr>
          <p:cNvPr id="6" name="Picture 5" descr="A graph with red and blue squares&#10;&#10;AI-generated content may be incorrect.">
            <a:extLst>
              <a:ext uri="{FF2B5EF4-FFF2-40B4-BE49-F238E27FC236}">
                <a16:creationId xmlns:a16="http://schemas.microsoft.com/office/drawing/2014/main" id="{ECD148F0-4765-87E7-6B28-8890C953D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3" y="2778911"/>
            <a:ext cx="5481509" cy="3384835"/>
          </a:xfrm>
          <a:prstGeom prst="rect">
            <a:avLst/>
          </a:prstGeom>
        </p:spPr>
      </p:pic>
      <p:pic>
        <p:nvPicPr>
          <p:cNvPr id="7" name="Picture 6" descr="A graph with numbers and a red box&#10;&#10;AI-generated content may be incorrect.">
            <a:extLst>
              <a:ext uri="{FF2B5EF4-FFF2-40B4-BE49-F238E27FC236}">
                <a16:creationId xmlns:a16="http://schemas.microsoft.com/office/drawing/2014/main" id="{5A5684DF-4E1E-9DE5-A47F-DDE98FB84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2766076"/>
            <a:ext cx="5523082" cy="341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7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B5C6-7ABC-C5E7-30A4-6E220532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04" y="-5542"/>
            <a:ext cx="10168128" cy="1179576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Clustering Cy Young Winners Pt. 1 – Radial Plots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03367E4C-ABDB-FFB2-39B1-EBC8072EB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724" y="972839"/>
            <a:ext cx="2645964" cy="2834271"/>
          </a:xfrm>
          <a:prstGeom prst="rect">
            <a:avLst/>
          </a:prstGeom>
        </p:spPr>
      </p:pic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9F8B01D3-FD09-84E9-A076-C4F768D9D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267" y="1008120"/>
            <a:ext cx="2615163" cy="2799139"/>
          </a:xfrm>
          <a:prstGeom prst="rect">
            <a:avLst/>
          </a:prstGeom>
        </p:spPr>
      </p:pic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1A2CFB96-B4F5-3D94-B006-A8ECF7086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829" y="3812933"/>
            <a:ext cx="2785918" cy="2880497"/>
          </a:xfrm>
          <a:prstGeom prst="rect">
            <a:avLst/>
          </a:prstGeom>
        </p:spPr>
      </p:pic>
      <p:pic>
        <p:nvPicPr>
          <p:cNvPr id="7" name="Picture 6" descr="A diagram of a circle with a red line and a triangle&#10;&#10;AI-generated content may be incorrect.">
            <a:extLst>
              <a:ext uri="{FF2B5EF4-FFF2-40B4-BE49-F238E27FC236}">
                <a16:creationId xmlns:a16="http://schemas.microsoft.com/office/drawing/2014/main" id="{34D95F43-49A2-6CD0-F225-4F40798EC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287" y="3809942"/>
            <a:ext cx="2828060" cy="2957138"/>
          </a:xfrm>
          <a:prstGeom prst="rect">
            <a:avLst/>
          </a:prstGeom>
        </p:spPr>
      </p:pic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1BBD0288-6E63-6DBC-591C-3689889EB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0735" y="1071187"/>
            <a:ext cx="2821940" cy="280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13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D52EE-2782-1DEA-2942-FBB1F6320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0"/>
            <a:ext cx="10168128" cy="1179576"/>
          </a:xfrm>
        </p:spPr>
        <p:txBody>
          <a:bodyPr/>
          <a:lstStyle/>
          <a:p>
            <a:r>
              <a:rPr lang="en-US" sz="3600"/>
              <a:t>Clustering Cy Young Winners Pt. 2 – Cluster Tree</a:t>
            </a: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5EC7648-34F9-39D7-3817-5F3CDB427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1206" y="1277297"/>
            <a:ext cx="6981993" cy="47679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D7B080-F966-C974-E354-51088E508761}"/>
              </a:ext>
            </a:extLst>
          </p:cNvPr>
          <p:cNvSpPr txBox="1"/>
          <p:nvPr/>
        </p:nvSpPr>
        <p:spPr>
          <a:xfrm>
            <a:off x="7666011" y="1281168"/>
            <a:ext cx="434109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Cluster 1: "Best of the Best" due to Highest K/9 with Low ERA and WHIP </a:t>
            </a:r>
          </a:p>
          <a:p>
            <a:endParaRPr lang="en-US"/>
          </a:p>
          <a:p>
            <a:r>
              <a:rPr lang="en-US"/>
              <a:t>Cluster 2: Strikeout Heavy Pitchers with Control Issues that Increased ERA</a:t>
            </a:r>
          </a:p>
          <a:p>
            <a:endParaRPr lang="en-US"/>
          </a:p>
          <a:p>
            <a:r>
              <a:rPr lang="en-US"/>
              <a:t>Cluster 3: Balanced Pitchers with Low WHIP and Average BBs and Ks</a:t>
            </a:r>
          </a:p>
          <a:p>
            <a:endParaRPr lang="en-US"/>
          </a:p>
          <a:p>
            <a:r>
              <a:rPr lang="en-US"/>
              <a:t>Cluster 4: Controlled Pitchers with Low Ks that Worked Deeper into Games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Were they luckier than others?</a:t>
            </a:r>
          </a:p>
          <a:p>
            <a:endParaRPr lang="en-US"/>
          </a:p>
          <a:p>
            <a:r>
              <a:rPr lang="en-US"/>
              <a:t>Cluster 5: The Least Statistically Dominant due to Above Average BBs and WHIP with Below Average 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5DE0F-B213-C1AD-C521-73336ABB4A0C}"/>
              </a:ext>
            </a:extLst>
          </p:cNvPr>
          <p:cNvSpPr txBox="1"/>
          <p:nvPr/>
        </p:nvSpPr>
        <p:spPr>
          <a:xfrm>
            <a:off x="924560" y="6045200"/>
            <a:ext cx="105460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Findings support the previous BORDA count analysis that 2017 AL Cy Young winner Corey Kluber was most dominant and 2012 AL Cy Young winner David Price was least dominant.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6932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AccentBoxVTI</vt:lpstr>
      <vt:lpstr>Analyzing the Effectiveness of Cy Young Award Winners</vt:lpstr>
      <vt:lpstr>Run Value</vt:lpstr>
      <vt:lpstr>ShinyApp</vt:lpstr>
      <vt:lpstr>Cumulative Run Value</vt:lpstr>
      <vt:lpstr>Shiny: Pitch Movement Breakdown</vt:lpstr>
      <vt:lpstr>Metric: tOPS+</vt:lpstr>
      <vt:lpstr>Metric: tOPS+ Cont.</vt:lpstr>
      <vt:lpstr>Clustering Cy Young Winners Pt. 1 – Radial Plots</vt:lpstr>
      <vt:lpstr>Clustering Cy Young Winners Pt. 2 – Cluster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2025-03-04T15:44:58Z</dcterms:created>
  <dcterms:modified xsi:type="dcterms:W3CDTF">2025-10-16T16:33:40Z</dcterms:modified>
</cp:coreProperties>
</file>